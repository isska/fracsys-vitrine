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7983" autoAdjust="0"/>
    <p:restoredTop sz="94660"/>
  </p:normalViewPr>
  <p:slideViewPr>
    <p:cSldViewPr snapToGrid="0">
      <p:cViewPr>
        <p:scale>
          <a:sx n="125" d="100"/>
          <a:sy n="125" d="100"/>
        </p:scale>
        <p:origin x="270" y="9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3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tableStyles" Target="tableStyles.xml"/><Relationship Id="rId5" Type="http://schemas.openxmlformats.org/officeDocument/2006/relationships/theme" Target="theme/theme1.xml"/><Relationship Id="rId4" Type="http://schemas.openxmlformats.org/officeDocument/2006/relationships/viewProps" Target="view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CC9DA1F-F6CE-022B-DD14-6A9F48ADE5B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Untertitel 2">
            <a:extLst>
              <a:ext uri="{FF2B5EF4-FFF2-40B4-BE49-F238E27FC236}">
                <a16:creationId xmlns:a16="http://schemas.microsoft.com/office/drawing/2014/main" id="{C952B226-3C7E-0C89-FF32-2463BBDD809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de-DE"/>
              <a:t>Master-Untertitelformat bearbeiten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62E18A96-882B-0608-9AAB-D4FEAD7CA4D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0A05702B-25C8-3573-BF26-D79F821E301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205FD90F-1405-AB67-7BA3-BC4A87EDC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47947517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8526440-4BED-0A29-4076-22038E7F56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94753FF4-144F-2E8D-292C-BD3411CCFD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2C186E19-2F65-5470-A0BC-07C3B2127AC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55534288-ED2D-3854-0FA0-F5A1DB2F56D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5530728B-2DB2-71D7-82D0-D43B46DC568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12531148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Abschnitts-&#10;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E825B32-7514-1551-F9DF-2D1A57AB5E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7B707D85-E52A-A22F-8F65-A089A54648D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10315EA-5AF0-2987-31E6-316D5F4C50A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DB979A0E-FB09-289D-46EE-F81A391DEA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9186EBA5-170C-1296-9CC4-A7EE31C0B5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5140741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2162C55-689F-676B-186F-253DDE334D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250CC6C8-5C2B-9469-EF3B-759F04EAAB7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7402A80C-5A80-7260-2DAB-9B9D64E208A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098F5E6A-09A4-5F2F-922B-2D69C9B05BC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9C00C77B-3CD4-758C-033B-6C55D9630B9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D7084B60-43DF-6F44-95C7-ABEBAF0D5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0287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D5D6F54-D9B9-6B57-2EE2-CE50AEEAD2E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42CC6C5D-998F-4CC5-D170-ED1FB6ADF9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4" name="Inhaltsplatzhalter 3">
            <a:extLst>
              <a:ext uri="{FF2B5EF4-FFF2-40B4-BE49-F238E27FC236}">
                <a16:creationId xmlns:a16="http://schemas.microsoft.com/office/drawing/2014/main" id="{FC5BD52A-63B0-D89F-877F-F8CF674A5360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5" name="Textplatzhalter 4">
            <a:extLst>
              <a:ext uri="{FF2B5EF4-FFF2-40B4-BE49-F238E27FC236}">
                <a16:creationId xmlns:a16="http://schemas.microsoft.com/office/drawing/2014/main" id="{C05375E1-10E8-8709-6A9F-5421BAE3A4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4D26ABFF-6FF6-9DC7-EB19-5CE408170AA2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7" name="Datumsplatzhalter 6">
            <a:extLst>
              <a:ext uri="{FF2B5EF4-FFF2-40B4-BE49-F238E27FC236}">
                <a16:creationId xmlns:a16="http://schemas.microsoft.com/office/drawing/2014/main" id="{5D8C92C8-5A74-1597-3075-5C8680ADB7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8" name="Fußzeilenplatzhalter 7">
            <a:extLst>
              <a:ext uri="{FF2B5EF4-FFF2-40B4-BE49-F238E27FC236}">
                <a16:creationId xmlns:a16="http://schemas.microsoft.com/office/drawing/2014/main" id="{0308B3BA-E390-04A4-8098-C49C3CF726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9" name="Foliennummernplatzhalter 8">
            <a:extLst>
              <a:ext uri="{FF2B5EF4-FFF2-40B4-BE49-F238E27FC236}">
                <a16:creationId xmlns:a16="http://schemas.microsoft.com/office/drawing/2014/main" id="{483414D7-5001-C5C5-BD44-4EE666C992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99749683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1824706-9C45-5243-BAB7-05C28F93B30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Datumsplatzhalter 2">
            <a:extLst>
              <a:ext uri="{FF2B5EF4-FFF2-40B4-BE49-F238E27FC236}">
                <a16:creationId xmlns:a16="http://schemas.microsoft.com/office/drawing/2014/main" id="{31743952-DE64-6535-5CD2-A87D7A9A541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4" name="Fußzeilenplatzhalter 3">
            <a:extLst>
              <a:ext uri="{FF2B5EF4-FFF2-40B4-BE49-F238E27FC236}">
                <a16:creationId xmlns:a16="http://schemas.microsoft.com/office/drawing/2014/main" id="{FDC5FF35-762D-78A6-B9CF-466C1C003AB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0DFB7964-141B-F674-17DD-060D68914C5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284822640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umsplatzhalter 1">
            <a:extLst>
              <a:ext uri="{FF2B5EF4-FFF2-40B4-BE49-F238E27FC236}">
                <a16:creationId xmlns:a16="http://schemas.microsoft.com/office/drawing/2014/main" id="{9CC8CB6F-19EA-2643-2B40-946FC83F847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3" name="Fußzeilenplatzhalter 2">
            <a:extLst>
              <a:ext uri="{FF2B5EF4-FFF2-40B4-BE49-F238E27FC236}">
                <a16:creationId xmlns:a16="http://schemas.microsoft.com/office/drawing/2014/main" id="{B7056AE1-A5D5-BDF2-4E3E-E84D5499352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F399905C-0730-582D-8219-57B2104905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70905077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Inhalt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1BA29F-4435-B521-462B-32478478EF5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5CA588BB-078C-4F2A-680F-FC09DB862C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811A2544-0F31-6234-B619-E52200D7CEF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E3AC98E9-26B4-6628-D617-6905A0C62C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ABD6107E-9E9B-F0B5-B32D-E51264A508D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9558D300-DEED-D2A8-D8BB-D4FCDE1ADD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32905700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Bild mit Überschrif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DE88966F-E3E2-5E19-989D-C51670F8FC9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Bildplatzhalter 2">
            <a:extLst>
              <a:ext uri="{FF2B5EF4-FFF2-40B4-BE49-F238E27FC236}">
                <a16:creationId xmlns:a16="http://schemas.microsoft.com/office/drawing/2014/main" id="{43314CDD-CBA7-C89A-7EA4-013ACA21456A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de-CH"/>
          </a:p>
        </p:txBody>
      </p:sp>
      <p:sp>
        <p:nvSpPr>
          <p:cNvPr id="4" name="Textplatzhalter 3">
            <a:extLst>
              <a:ext uri="{FF2B5EF4-FFF2-40B4-BE49-F238E27FC236}">
                <a16:creationId xmlns:a16="http://schemas.microsoft.com/office/drawing/2014/main" id="{71BEF79E-747F-B6B7-77D9-9424F24DBF2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de-DE"/>
              <a:t>Mastertextformat bearbeiten</a:t>
            </a:r>
          </a:p>
        </p:txBody>
      </p:sp>
      <p:sp>
        <p:nvSpPr>
          <p:cNvPr id="5" name="Datumsplatzhalter 4">
            <a:extLst>
              <a:ext uri="{FF2B5EF4-FFF2-40B4-BE49-F238E27FC236}">
                <a16:creationId xmlns:a16="http://schemas.microsoft.com/office/drawing/2014/main" id="{C9119997-A748-C8A1-1E3E-D6257DCD41E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6" name="Fußzeilenplatzhalter 5">
            <a:extLst>
              <a:ext uri="{FF2B5EF4-FFF2-40B4-BE49-F238E27FC236}">
                <a16:creationId xmlns:a16="http://schemas.microsoft.com/office/drawing/2014/main" id="{DDF9A0C0-CBA2-DCE9-ED7E-70D3614EEA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7" name="Foliennummernplatzhalter 6">
            <a:extLst>
              <a:ext uri="{FF2B5EF4-FFF2-40B4-BE49-F238E27FC236}">
                <a16:creationId xmlns:a16="http://schemas.microsoft.com/office/drawing/2014/main" id="{BE16C774-0A9F-D719-52EC-EA8053CD33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342045282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el und vertikaler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9DEFBC8C-DA3E-E342-381D-E9ED39FC6E1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F01BA359-C5ED-EEBB-0DC9-550663D899E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F590E8B5-8FD3-C981-95B0-B4854AA5C41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A8F3064-C26A-4634-C5CA-4DCEEA04926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B60B5F96-1F12-0D03-D847-6FE9ECEC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4290150421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kaler Titel u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kaler Titel 1">
            <a:extLst>
              <a:ext uri="{FF2B5EF4-FFF2-40B4-BE49-F238E27FC236}">
                <a16:creationId xmlns:a16="http://schemas.microsoft.com/office/drawing/2014/main" id="{0884DA0A-FA39-2C2E-01A0-9E1B24A73E9B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Vertikaler Textplatzhalter 2">
            <a:extLst>
              <a:ext uri="{FF2B5EF4-FFF2-40B4-BE49-F238E27FC236}">
                <a16:creationId xmlns:a16="http://schemas.microsoft.com/office/drawing/2014/main" id="{E071A78E-3BCA-5BEC-BD61-BD67BE2B62E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33CDA43B-2D2F-D5F3-8BFF-849349EFEA2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886419DF-2C48-C953-526B-61748FC228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D96EF360-B990-05D5-8CB3-CA2491A192D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62546311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platzhalter 1">
            <a:extLst>
              <a:ext uri="{FF2B5EF4-FFF2-40B4-BE49-F238E27FC236}">
                <a16:creationId xmlns:a16="http://schemas.microsoft.com/office/drawing/2014/main" id="{76B16CA0-70AB-6935-264B-610B691FBB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de-DE"/>
              <a:t>Mastertitelformat bearbeiten</a:t>
            </a:r>
            <a:endParaRPr lang="de-CH"/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6BD29915-AF34-D339-2DDC-562DC4DA04C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de-DE"/>
              <a:t>Mastertextformat bearbeiten</a:t>
            </a:r>
          </a:p>
          <a:p>
            <a:pPr lvl="1"/>
            <a:r>
              <a:rPr lang="de-DE"/>
              <a:t>Zweite Ebene</a:t>
            </a:r>
          </a:p>
          <a:p>
            <a:pPr lvl="2"/>
            <a:r>
              <a:rPr lang="de-DE"/>
              <a:t>Dritte Ebene</a:t>
            </a:r>
          </a:p>
          <a:p>
            <a:pPr lvl="3"/>
            <a:r>
              <a:rPr lang="de-DE"/>
              <a:t>Vierte Ebene</a:t>
            </a:r>
          </a:p>
          <a:p>
            <a:pPr lvl="4"/>
            <a:r>
              <a:rPr lang="de-DE"/>
              <a:t>Fünfte Ebene</a:t>
            </a:r>
            <a:endParaRPr lang="de-CH"/>
          </a:p>
        </p:txBody>
      </p:sp>
      <p:sp>
        <p:nvSpPr>
          <p:cNvPr id="4" name="Datumsplatzhalter 3">
            <a:extLst>
              <a:ext uri="{FF2B5EF4-FFF2-40B4-BE49-F238E27FC236}">
                <a16:creationId xmlns:a16="http://schemas.microsoft.com/office/drawing/2014/main" id="{9ED7BAEC-40BD-3223-2DF8-FEE2A82CB3D8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B4691EA-DFA8-437B-AC58-1971B4E320FD}" type="datetimeFigureOut">
              <a:rPr lang="de-CH" smtClean="0"/>
              <a:t>17.12.2025</a:t>
            </a:fld>
            <a:endParaRPr lang="de-CH"/>
          </a:p>
        </p:txBody>
      </p:sp>
      <p:sp>
        <p:nvSpPr>
          <p:cNvPr id="5" name="Fußzeilenplatzhalter 4">
            <a:extLst>
              <a:ext uri="{FF2B5EF4-FFF2-40B4-BE49-F238E27FC236}">
                <a16:creationId xmlns:a16="http://schemas.microsoft.com/office/drawing/2014/main" id="{9D4BA414-CF4D-CD53-2D20-198FFCA043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de-CH"/>
          </a:p>
        </p:txBody>
      </p:sp>
      <p:sp>
        <p:nvSpPr>
          <p:cNvPr id="6" name="Foliennummernplatzhalter 5">
            <a:extLst>
              <a:ext uri="{FF2B5EF4-FFF2-40B4-BE49-F238E27FC236}">
                <a16:creationId xmlns:a16="http://schemas.microsoft.com/office/drawing/2014/main" id="{68BBB2AF-0DC3-8846-BE8E-8FF71168EAB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5A2838F3-3778-431D-93FE-0342B45C9F77}" type="slidenum">
              <a:rPr lang="de-CH" smtClean="0"/>
              <a:t>‹Nr.›</a:t>
            </a:fld>
            <a:endParaRPr lang="de-CH"/>
          </a:p>
        </p:txBody>
      </p:sp>
    </p:spTree>
    <p:extLst>
      <p:ext uri="{BB962C8B-B14F-4D97-AF65-F5344CB8AC3E}">
        <p14:creationId xmlns:p14="http://schemas.microsoft.com/office/powerpoint/2010/main" val="16357086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13" Type="http://schemas.openxmlformats.org/officeDocument/2006/relationships/image" Target="../media/image12.svg"/><Relationship Id="rId18" Type="http://schemas.openxmlformats.org/officeDocument/2006/relationships/image" Target="../media/image17.svg"/><Relationship Id="rId3" Type="http://schemas.openxmlformats.org/officeDocument/2006/relationships/image" Target="../media/image2.svg"/><Relationship Id="rId21" Type="http://schemas.openxmlformats.org/officeDocument/2006/relationships/image" Target="../media/image20.png"/><Relationship Id="rId7" Type="http://schemas.openxmlformats.org/officeDocument/2006/relationships/image" Target="../media/image6.svg"/><Relationship Id="rId12" Type="http://schemas.openxmlformats.org/officeDocument/2006/relationships/image" Target="../media/image11.png"/><Relationship Id="rId17" Type="http://schemas.openxmlformats.org/officeDocument/2006/relationships/image" Target="../media/image16.png"/><Relationship Id="rId2" Type="http://schemas.openxmlformats.org/officeDocument/2006/relationships/image" Target="../media/image1.png"/><Relationship Id="rId16" Type="http://schemas.openxmlformats.org/officeDocument/2006/relationships/image" Target="../media/image15.svg"/><Relationship Id="rId20" Type="http://schemas.openxmlformats.org/officeDocument/2006/relationships/image" Target="../media/image19.sv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svg"/><Relationship Id="rId5" Type="http://schemas.openxmlformats.org/officeDocument/2006/relationships/image" Target="../media/image4.svg"/><Relationship Id="rId15" Type="http://schemas.openxmlformats.org/officeDocument/2006/relationships/image" Target="../media/image14.png"/><Relationship Id="rId10" Type="http://schemas.openxmlformats.org/officeDocument/2006/relationships/image" Target="../media/image9.png"/><Relationship Id="rId19" Type="http://schemas.openxmlformats.org/officeDocument/2006/relationships/image" Target="../media/image18.png"/><Relationship Id="rId4" Type="http://schemas.openxmlformats.org/officeDocument/2006/relationships/image" Target="../media/image3.png"/><Relationship Id="rId9" Type="http://schemas.openxmlformats.org/officeDocument/2006/relationships/image" Target="../media/image8.svg"/><Relationship Id="rId14" Type="http://schemas.openxmlformats.org/officeDocument/2006/relationships/image" Target="../media/image13.png"/><Relationship Id="rId22" Type="http://schemas.openxmlformats.org/officeDocument/2006/relationships/image" Target="../media/image21.sv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tangle 54">
            <a:extLst>
              <a:ext uri="{FF2B5EF4-FFF2-40B4-BE49-F238E27FC236}">
                <a16:creationId xmlns:a16="http://schemas.microsoft.com/office/drawing/2014/main" id="{302A5B0E-ABA9-48CD-84D0-B78867AD79EC}"/>
              </a:ext>
            </a:extLst>
          </p:cNvPr>
          <p:cNvSpPr/>
          <p:nvPr/>
        </p:nvSpPr>
        <p:spPr>
          <a:xfrm>
            <a:off x="1335573" y="359625"/>
            <a:ext cx="9322902" cy="5081127"/>
          </a:xfrm>
          <a:prstGeom prst="rect">
            <a:avLst/>
          </a:prstGeom>
          <a:noFill/>
          <a:ln w="158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502920" tIns="91440"/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1pPr>
            <a:lvl2pPr marL="4572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2pPr>
            <a:lvl3pPr marL="9144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3pPr>
            <a:lvl4pPr marL="1371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4pPr>
            <a:lvl5pPr marL="18288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ern="1200">
                <a:solidFill>
                  <a:schemeClr val="lt1"/>
                </a:solidFill>
                <a:latin typeface="+mn-lt"/>
                <a:ea typeface="+mn-ea"/>
                <a:cs typeface="+mn-cs"/>
              </a:defRPr>
            </a:lvl9pPr>
          </a:lstStyle>
          <a:p>
            <a:pPr eaLnBrk="1" fontAlgn="auto" hangingPunct="1">
              <a:spcBef>
                <a:spcPts val="0"/>
              </a:spcBef>
              <a:spcAft>
                <a:spcPts val="0"/>
              </a:spcAft>
              <a:defRPr/>
            </a:pPr>
            <a:endParaRPr lang="en-US" sz="1200" dirty="0">
              <a:solidFill>
                <a:schemeClr val="tx1"/>
              </a:solidFill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6" name="Graphic 55" descr="AWS Cloud group icon with AWS logo.">
            <a:extLst>
              <a:ext uri="{FF2B5EF4-FFF2-40B4-BE49-F238E27FC236}">
                <a16:creationId xmlns:a16="http://schemas.microsoft.com/office/drawing/2014/main" id="{8AB2D835-9413-49FA-ACE8-763B2FFE233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1335573" y="359625"/>
            <a:ext cx="710227" cy="710227"/>
          </a:xfrm>
          <a:prstGeom prst="rect">
            <a:avLst/>
          </a:prstGeom>
        </p:spPr>
      </p:pic>
      <p:grpSp>
        <p:nvGrpSpPr>
          <p:cNvPr id="68" name="Gruppieren 67">
            <a:extLst>
              <a:ext uri="{FF2B5EF4-FFF2-40B4-BE49-F238E27FC236}">
                <a16:creationId xmlns:a16="http://schemas.microsoft.com/office/drawing/2014/main" id="{03BF5E27-302A-8647-A52E-50CE5A653DF6}"/>
              </a:ext>
            </a:extLst>
          </p:cNvPr>
          <p:cNvGrpSpPr/>
          <p:nvPr/>
        </p:nvGrpSpPr>
        <p:grpSpPr>
          <a:xfrm>
            <a:off x="5828081" y="2306000"/>
            <a:ext cx="1585787" cy="2310257"/>
            <a:chOff x="5357286" y="1429893"/>
            <a:chExt cx="1585787" cy="2310257"/>
          </a:xfrm>
        </p:grpSpPr>
        <p:grpSp>
          <p:nvGrpSpPr>
            <p:cNvPr id="42" name="Gruppieren 41">
              <a:extLst>
                <a:ext uri="{FF2B5EF4-FFF2-40B4-BE49-F238E27FC236}">
                  <a16:creationId xmlns:a16="http://schemas.microsoft.com/office/drawing/2014/main" id="{D8C7162D-80CD-E34C-17F7-D24EDF3CD37D}"/>
                </a:ext>
              </a:extLst>
            </p:cNvPr>
            <p:cNvGrpSpPr/>
            <p:nvPr/>
          </p:nvGrpSpPr>
          <p:grpSpPr>
            <a:xfrm>
              <a:off x="5517006" y="2001139"/>
              <a:ext cx="1266346" cy="590338"/>
              <a:chOff x="5425214" y="1724849"/>
              <a:chExt cx="1266346" cy="590338"/>
            </a:xfrm>
          </p:grpSpPr>
          <p:pic>
            <p:nvPicPr>
              <p:cNvPr id="11" name="Graphic 13" descr="Lambda function resource icon for the AWS Lambda service icon.">
                <a:extLst>
                  <a:ext uri="{FF2B5EF4-FFF2-40B4-BE49-F238E27FC236}">
                    <a16:creationId xmlns:a16="http://schemas.microsoft.com/office/drawing/2014/main" id="{E2B9011C-C7EB-AD4B-85D7-DC979571C7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 bwMode="auto">
              <a:xfrm>
                <a:off x="5920149" y="1724849"/>
                <a:ext cx="341094" cy="34109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2" name="TextBox 17">
                <a:extLst>
                  <a:ext uri="{FF2B5EF4-FFF2-40B4-BE49-F238E27FC236}">
                    <a16:creationId xmlns:a16="http://schemas.microsoft.com/office/drawing/2014/main" id="{70E93A9B-B3E0-D24E-9DFE-BE9C66CA38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425214" y="2099743"/>
                <a:ext cx="1266346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DownloadUrlLambda</a:t>
                </a:r>
                <a:endParaRPr lang="en-US" altLang="en-US" sz="8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endParaRPr>
              </a:p>
            </p:txBody>
          </p:sp>
        </p:grpSp>
        <p:grpSp>
          <p:nvGrpSpPr>
            <p:cNvPr id="43" name="Gruppieren 42">
              <a:extLst>
                <a:ext uri="{FF2B5EF4-FFF2-40B4-BE49-F238E27FC236}">
                  <a16:creationId xmlns:a16="http://schemas.microsoft.com/office/drawing/2014/main" id="{6BBCCC16-F938-779D-52F0-FFF84978E2F0}"/>
                </a:ext>
              </a:extLst>
            </p:cNvPr>
            <p:cNvGrpSpPr/>
            <p:nvPr/>
          </p:nvGrpSpPr>
          <p:grpSpPr>
            <a:xfrm>
              <a:off x="5632464" y="2840019"/>
              <a:ext cx="1150888" cy="585626"/>
              <a:chOff x="5540672" y="2480743"/>
              <a:chExt cx="1150888" cy="585626"/>
            </a:xfrm>
          </p:grpSpPr>
          <p:pic>
            <p:nvPicPr>
              <p:cNvPr id="13" name="Graphic 13" descr="Lambda function resource icon for the AWS Lambda service icon.">
                <a:extLst>
                  <a:ext uri="{FF2B5EF4-FFF2-40B4-BE49-F238E27FC236}">
                    <a16:creationId xmlns:a16="http://schemas.microsoft.com/office/drawing/2014/main" id="{E2B9011C-C7EB-AD4B-85D7-DC979571C750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4">
                <a:extLst>
                  <a:ext uri="{96DAC541-7B7A-43D3-8B79-37D633B846F1}">
                    <asvg:svgBlip xmlns:asvg="http://schemas.microsoft.com/office/drawing/2016/SVG/main" r:embed="rId5"/>
                  </a:ext>
                </a:extLst>
              </a:blip>
              <a:srcRect/>
              <a:stretch/>
            </p:blipFill>
            <p:spPr bwMode="auto">
              <a:xfrm>
                <a:off x="5878001" y="2480743"/>
                <a:ext cx="356788" cy="340880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14" name="TextBox 17">
                <a:extLst>
                  <a:ext uri="{FF2B5EF4-FFF2-40B4-BE49-F238E27FC236}">
                    <a16:creationId xmlns:a16="http://schemas.microsoft.com/office/drawing/2014/main" id="{70E93A9B-B3E0-D24E-9DFE-BE9C66CA3837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5540672" y="2850925"/>
                <a:ext cx="1150888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UploadUrlLambda</a:t>
                </a:r>
                <a:endParaRPr lang="en-US" altLang="en-US" sz="8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25" name="Rectangle 58">
              <a:extLst>
                <a:ext uri="{FF2B5EF4-FFF2-40B4-BE49-F238E27FC236}">
                  <a16:creationId xmlns:a16="http://schemas.microsoft.com/office/drawing/2014/main" id="{C9AA1048-CF2C-46E7-882C-FF264E8E2FDF}"/>
                </a:ext>
              </a:extLst>
            </p:cNvPr>
            <p:cNvSpPr/>
            <p:nvPr/>
          </p:nvSpPr>
          <p:spPr>
            <a:xfrm>
              <a:off x="5357286" y="1429894"/>
              <a:ext cx="1585787" cy="2310256"/>
            </a:xfrm>
            <a:prstGeom prst="rect">
              <a:avLst/>
            </a:prstGeom>
            <a:noFill/>
            <a:ln w="15875">
              <a:solidFill>
                <a:srgbClr val="ED71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Lambda</a:t>
              </a:r>
            </a:p>
          </p:txBody>
        </p:sp>
        <p:pic>
          <p:nvPicPr>
            <p:cNvPr id="26" name="Graphic 59">
              <a:extLst>
                <a:ext uri="{FF2B5EF4-FFF2-40B4-BE49-F238E27FC236}">
                  <a16:creationId xmlns:a16="http://schemas.microsoft.com/office/drawing/2014/main" id="{51A959D2-E651-4944-AFC6-2AA3FB555384}"/>
                </a:ext>
              </a:extLst>
            </p:cNvPr>
            <p:cNvPicPr>
              <a:picLocks noChangeAspect="1"/>
            </p:cNvPicPr>
            <p:nvPr/>
          </p:nvPicPr>
          <p:blipFill>
            <a:blip r:embed="rId6">
              <a:extLst>
                <a:ext uri="{96DAC541-7B7A-43D3-8B79-37D633B846F1}">
                  <asvg:svgBlip xmlns:asvg="http://schemas.microsoft.com/office/drawing/2016/SVG/main" r:embed="rId7"/>
                </a:ext>
              </a:extLst>
            </a:blip>
            <a:srcRect/>
            <a:stretch/>
          </p:blipFill>
          <p:spPr>
            <a:xfrm>
              <a:off x="5357286" y="1429893"/>
              <a:ext cx="381000" cy="381000"/>
            </a:xfrm>
            <a:prstGeom prst="rect">
              <a:avLst/>
            </a:prstGeom>
          </p:spPr>
        </p:pic>
      </p:grpSp>
      <p:grpSp>
        <p:nvGrpSpPr>
          <p:cNvPr id="67" name="Gruppieren 66">
            <a:extLst>
              <a:ext uri="{FF2B5EF4-FFF2-40B4-BE49-F238E27FC236}">
                <a16:creationId xmlns:a16="http://schemas.microsoft.com/office/drawing/2014/main" id="{7ED0412B-199F-769B-B868-71166D0E257E}"/>
              </a:ext>
            </a:extLst>
          </p:cNvPr>
          <p:cNvGrpSpPr/>
          <p:nvPr/>
        </p:nvGrpSpPr>
        <p:grpSpPr>
          <a:xfrm>
            <a:off x="8026375" y="2901482"/>
            <a:ext cx="2010189" cy="1410309"/>
            <a:chOff x="7610179" y="1216809"/>
            <a:chExt cx="2010189" cy="1410309"/>
          </a:xfrm>
        </p:grpSpPr>
        <p:grpSp>
          <p:nvGrpSpPr>
            <p:cNvPr id="36" name="Gruppieren 35">
              <a:extLst>
                <a:ext uri="{FF2B5EF4-FFF2-40B4-BE49-F238E27FC236}">
                  <a16:creationId xmlns:a16="http://schemas.microsoft.com/office/drawing/2014/main" id="{42EC17D5-40A9-B4CF-BF4E-55034C8A58CA}"/>
                </a:ext>
              </a:extLst>
            </p:cNvPr>
            <p:cNvGrpSpPr/>
            <p:nvPr/>
          </p:nvGrpSpPr>
          <p:grpSpPr>
            <a:xfrm>
              <a:off x="8109469" y="1678318"/>
              <a:ext cx="1097988" cy="702394"/>
              <a:chOff x="8040132" y="1841129"/>
              <a:chExt cx="1097988" cy="702394"/>
            </a:xfrm>
          </p:grpSpPr>
          <p:pic>
            <p:nvPicPr>
              <p:cNvPr id="7" name="Graphic 68" descr="S3 Standard storage class icon for the Amazon S3 service.">
                <a:extLst>
                  <a:ext uri="{FF2B5EF4-FFF2-40B4-BE49-F238E27FC236}">
                    <a16:creationId xmlns:a16="http://schemas.microsoft.com/office/drawing/2014/main" id="{39EDE038-C9C0-EB22-E35E-6965EE42D33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96DAC541-7B7A-43D3-8B79-37D633B846F1}">
                    <asvg:svgBlip xmlns:asvg="http://schemas.microsoft.com/office/drawing/2016/SVG/main" r:embed="rId9"/>
                  </a:ext>
                </a:extLst>
              </a:blip>
              <a:stretch>
                <a:fillRect/>
              </a:stretch>
            </p:blipFill>
            <p:spPr>
              <a:xfrm>
                <a:off x="8407599" y="1841129"/>
                <a:ext cx="363054" cy="363054"/>
              </a:xfrm>
              <a:prstGeom prst="rect">
                <a:avLst/>
              </a:prstGeom>
            </p:spPr>
          </p:pic>
          <p:sp>
            <p:nvSpPr>
              <p:cNvPr id="8" name="TextBox 62">
                <a:extLst>
                  <a:ext uri="{FF2B5EF4-FFF2-40B4-BE49-F238E27FC236}">
                    <a16:creationId xmlns:a16="http://schemas.microsoft.com/office/drawing/2014/main" id="{F5C81401-1C97-664A-94C5-7F532AC20E94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8040132" y="2204969"/>
                <a:ext cx="1097988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fracsysmodels202511272A7D2AFF</a:t>
                </a:r>
              </a:p>
            </p:txBody>
          </p:sp>
        </p:grpSp>
        <p:sp>
          <p:nvSpPr>
            <p:cNvPr id="32" name="Rectangle 51">
              <a:extLst>
                <a:ext uri="{FF2B5EF4-FFF2-40B4-BE49-F238E27FC236}">
                  <a16:creationId xmlns:a16="http://schemas.microsoft.com/office/drawing/2014/main" id="{A5ECAF0F-9EF6-4F44-9832-1804DF7E3C38}"/>
                </a:ext>
              </a:extLst>
            </p:cNvPr>
            <p:cNvSpPr/>
            <p:nvPr/>
          </p:nvSpPr>
          <p:spPr>
            <a:xfrm>
              <a:off x="7610179" y="1218382"/>
              <a:ext cx="2010189" cy="1408736"/>
            </a:xfrm>
            <a:prstGeom prst="rect">
              <a:avLst/>
            </a:prstGeom>
            <a:noFill/>
            <a:ln w="15875">
              <a:solidFill>
                <a:srgbClr val="7AA116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ln w="0"/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Simple Storage Service</a:t>
              </a:r>
            </a:p>
          </p:txBody>
        </p:sp>
        <p:pic>
          <p:nvPicPr>
            <p:cNvPr id="33" name="Graphic 52">
              <a:extLst>
                <a:ext uri="{FF2B5EF4-FFF2-40B4-BE49-F238E27FC236}">
                  <a16:creationId xmlns:a16="http://schemas.microsoft.com/office/drawing/2014/main" id="{2A6118A8-FD5B-44FA-A2F8-8F65033D6E34}"/>
                </a:ext>
              </a:extLst>
            </p:cNvPr>
            <p:cNvPicPr>
              <a:picLocks noChangeAspect="1"/>
            </p:cNvPicPr>
            <p:nvPr/>
          </p:nvPicPr>
          <p:blipFill>
            <a:blip r:embed="rId10">
              <a:extLst>
                <a:ext uri="{96DAC541-7B7A-43D3-8B79-37D633B846F1}">
                  <asvg:svgBlip xmlns:asvg="http://schemas.microsoft.com/office/drawing/2016/SVG/main" r:embed="rId11"/>
                </a:ext>
              </a:extLst>
            </a:blip>
            <a:srcRect/>
            <a:stretch/>
          </p:blipFill>
          <p:spPr>
            <a:xfrm>
              <a:off x="7610179" y="1216809"/>
              <a:ext cx="381000" cy="381000"/>
            </a:xfrm>
            <a:prstGeom prst="rect">
              <a:avLst/>
            </a:prstGeom>
          </p:spPr>
        </p:pic>
      </p:grpSp>
      <p:grpSp>
        <p:nvGrpSpPr>
          <p:cNvPr id="61" name="Gruppieren 60">
            <a:extLst>
              <a:ext uri="{FF2B5EF4-FFF2-40B4-BE49-F238E27FC236}">
                <a16:creationId xmlns:a16="http://schemas.microsoft.com/office/drawing/2014/main" id="{B890A991-6237-AB72-8C95-B90DDA1F0A14}"/>
              </a:ext>
            </a:extLst>
          </p:cNvPr>
          <p:cNvGrpSpPr/>
          <p:nvPr/>
        </p:nvGrpSpPr>
        <p:grpSpPr>
          <a:xfrm>
            <a:off x="5398166" y="792817"/>
            <a:ext cx="2441631" cy="1040114"/>
            <a:chOff x="4476750" y="595995"/>
            <a:chExt cx="2441631" cy="1040114"/>
          </a:xfrm>
        </p:grpSpPr>
        <p:grpSp>
          <p:nvGrpSpPr>
            <p:cNvPr id="41" name="Gruppieren 40">
              <a:extLst>
                <a:ext uri="{FF2B5EF4-FFF2-40B4-BE49-F238E27FC236}">
                  <a16:creationId xmlns:a16="http://schemas.microsoft.com/office/drawing/2014/main" id="{01C02EA5-E3D5-81A1-2314-385AE1BF554A}"/>
                </a:ext>
              </a:extLst>
            </p:cNvPr>
            <p:cNvGrpSpPr/>
            <p:nvPr/>
          </p:nvGrpSpPr>
          <p:grpSpPr>
            <a:xfrm>
              <a:off x="4609856" y="935336"/>
              <a:ext cx="1193023" cy="616862"/>
              <a:chOff x="3453540" y="4723571"/>
              <a:chExt cx="1193023" cy="616862"/>
            </a:xfrm>
          </p:grpSpPr>
          <p:pic>
            <p:nvPicPr>
              <p:cNvPr id="21" name="Graphic 72" descr="Role resource icon for the IAM service.">
                <a:extLst>
                  <a:ext uri="{FF2B5EF4-FFF2-40B4-BE49-F238E27FC236}">
                    <a16:creationId xmlns:a16="http://schemas.microsoft.com/office/drawing/2014/main" id="{26677775-3154-4096-8694-4B7358F3D16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3874432" y="4723571"/>
                <a:ext cx="351241" cy="351241"/>
              </a:xfrm>
              <a:prstGeom prst="rect">
                <a:avLst/>
              </a:prstGeom>
            </p:spPr>
          </p:pic>
          <p:sp>
            <p:nvSpPr>
              <p:cNvPr id="22" name="TextBox 29">
                <a:extLst>
                  <a:ext uri="{FF2B5EF4-FFF2-40B4-BE49-F238E27FC236}">
                    <a16:creationId xmlns:a16="http://schemas.microsoft.com/office/drawing/2014/main" id="{0F02AB39-166A-4382-8A27-57908748AFED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453540" y="5001879"/>
                <a:ext cx="1193023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DownloadUrlLambdaServiceRole</a:t>
                </a:r>
                <a:endParaRPr lang="en-US" altLang="en-US" sz="8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endParaRPr>
              </a:p>
            </p:txBody>
          </p:sp>
        </p:grpSp>
        <p:sp>
          <p:nvSpPr>
            <p:cNvPr id="38" name="Rectangle 62">
              <a:extLst>
                <a:ext uri="{FF2B5EF4-FFF2-40B4-BE49-F238E27FC236}">
                  <a16:creationId xmlns:a16="http://schemas.microsoft.com/office/drawing/2014/main" id="{08FA695D-70A0-4F41-8C21-E437C7B3DF77}"/>
                </a:ext>
              </a:extLst>
            </p:cNvPr>
            <p:cNvSpPr/>
            <p:nvPr/>
          </p:nvSpPr>
          <p:spPr>
            <a:xfrm>
              <a:off x="4476750" y="595996"/>
              <a:ext cx="2441631" cy="1040113"/>
            </a:xfrm>
            <a:prstGeom prst="rect">
              <a:avLst/>
            </a:prstGeom>
            <a:noFill/>
            <a:ln w="15875">
              <a:solidFill>
                <a:srgbClr val="DD344C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AWS IAM Identity Center</a:t>
              </a:r>
            </a:p>
          </p:txBody>
        </p:sp>
        <p:pic>
          <p:nvPicPr>
            <p:cNvPr id="39" name="Graphic 63">
              <a:extLst>
                <a:ext uri="{FF2B5EF4-FFF2-40B4-BE49-F238E27FC236}">
                  <a16:creationId xmlns:a16="http://schemas.microsoft.com/office/drawing/2014/main" id="{DA91B879-1EA9-4070-9829-D532FB7C5879}"/>
                </a:ext>
              </a:extLst>
            </p:cNvPr>
            <p:cNvPicPr>
              <a:picLocks noChangeAspect="1"/>
            </p:cNvPicPr>
            <p:nvPr/>
          </p:nvPicPr>
          <p:blipFill>
            <a:blip r:embed="rId1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/>
          </p:blipFill>
          <p:spPr>
            <a:xfrm>
              <a:off x="4476750" y="595995"/>
              <a:ext cx="381000" cy="381000"/>
            </a:xfrm>
            <a:prstGeom prst="rect">
              <a:avLst/>
            </a:prstGeom>
          </p:spPr>
        </p:pic>
        <p:grpSp>
          <p:nvGrpSpPr>
            <p:cNvPr id="45" name="Gruppieren 44">
              <a:extLst>
                <a:ext uri="{FF2B5EF4-FFF2-40B4-BE49-F238E27FC236}">
                  <a16:creationId xmlns:a16="http://schemas.microsoft.com/office/drawing/2014/main" id="{5B9BD941-FB5E-E6CF-B177-B629323F1CDD}"/>
                </a:ext>
              </a:extLst>
            </p:cNvPr>
            <p:cNvGrpSpPr/>
            <p:nvPr/>
          </p:nvGrpSpPr>
          <p:grpSpPr>
            <a:xfrm>
              <a:off x="5643526" y="943427"/>
              <a:ext cx="1049776" cy="615553"/>
              <a:chOff x="3515874" y="4723571"/>
              <a:chExt cx="1049776" cy="615553"/>
            </a:xfrm>
          </p:grpSpPr>
          <p:pic>
            <p:nvPicPr>
              <p:cNvPr id="46" name="Graphic 72" descr="Role resource icon for the IAM service.">
                <a:extLst>
                  <a:ext uri="{FF2B5EF4-FFF2-40B4-BE49-F238E27FC236}">
                    <a16:creationId xmlns:a16="http://schemas.microsoft.com/office/drawing/2014/main" id="{F141BCE7-678C-12BD-1C4F-44B955D134AB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12">
                <a:extLst>
                  <a:ext uri="{96DAC541-7B7A-43D3-8B79-37D633B846F1}">
                    <asvg:svgBlip xmlns:asvg="http://schemas.microsoft.com/office/drawing/2016/SVG/main" r:embed="rId13"/>
                  </a:ext>
                </a:extLst>
              </a:blip>
              <a:stretch>
                <a:fillRect/>
              </a:stretch>
            </p:blipFill>
            <p:spPr>
              <a:xfrm>
                <a:off x="3874432" y="4723571"/>
                <a:ext cx="351241" cy="351241"/>
              </a:xfrm>
              <a:prstGeom prst="rect">
                <a:avLst/>
              </a:prstGeom>
            </p:spPr>
          </p:pic>
          <p:sp>
            <p:nvSpPr>
              <p:cNvPr id="47" name="TextBox 29">
                <a:extLst>
                  <a:ext uri="{FF2B5EF4-FFF2-40B4-BE49-F238E27FC236}">
                    <a16:creationId xmlns:a16="http://schemas.microsoft.com/office/drawing/2014/main" id="{08E4E134-0D52-72C9-AE76-C4C6BCA5C49C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3515874" y="5000570"/>
                <a:ext cx="1049776" cy="33855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UploadUrlLambdaServiceRole</a:t>
                </a:r>
                <a:endParaRPr lang="en-US" altLang="en-US" sz="800" dirty="0">
                  <a:latin typeface="Arial" panose="020B0604020202020204" pitchFamily="34" charset="0"/>
                  <a:ea typeface="Amazon Ember" panose="020B0603020204020204" pitchFamily="34" charset="0"/>
                  <a:cs typeface="Arial" panose="020B0604020202020204" pitchFamily="34" charset="0"/>
                </a:endParaRPr>
              </a:p>
            </p:txBody>
          </p:sp>
        </p:grpSp>
      </p:grpSp>
      <p:grpSp>
        <p:nvGrpSpPr>
          <p:cNvPr id="69" name="Gruppieren 68">
            <a:extLst>
              <a:ext uri="{FF2B5EF4-FFF2-40B4-BE49-F238E27FC236}">
                <a16:creationId xmlns:a16="http://schemas.microsoft.com/office/drawing/2014/main" id="{06E78194-A6E8-616C-F3C6-3405DB4DC12A}"/>
              </a:ext>
            </a:extLst>
          </p:cNvPr>
          <p:cNvGrpSpPr/>
          <p:nvPr/>
        </p:nvGrpSpPr>
        <p:grpSpPr>
          <a:xfrm>
            <a:off x="3313721" y="2306000"/>
            <a:ext cx="1710793" cy="2357786"/>
            <a:chOff x="2436272" y="1636364"/>
            <a:chExt cx="1710793" cy="2357786"/>
          </a:xfrm>
        </p:grpSpPr>
        <p:grpSp>
          <p:nvGrpSpPr>
            <p:cNvPr id="55" name="Gruppieren 54">
              <a:extLst>
                <a:ext uri="{FF2B5EF4-FFF2-40B4-BE49-F238E27FC236}">
                  <a16:creationId xmlns:a16="http://schemas.microsoft.com/office/drawing/2014/main" id="{085E19BD-F576-6D6C-756E-507EB77A3044}"/>
                </a:ext>
              </a:extLst>
            </p:cNvPr>
            <p:cNvGrpSpPr/>
            <p:nvPr/>
          </p:nvGrpSpPr>
          <p:grpSpPr>
            <a:xfrm>
              <a:off x="2581589" y="2319288"/>
              <a:ext cx="1468727" cy="562332"/>
              <a:chOff x="4782790" y="4213783"/>
              <a:chExt cx="1468727" cy="562332"/>
            </a:xfrm>
          </p:grpSpPr>
          <p:pic>
            <p:nvPicPr>
              <p:cNvPr id="49" name="Graphic 6" descr="Endpoint resource icon for the Amazon API Gateway service.">
                <a:extLst>
                  <a:ext uri="{FF2B5EF4-FFF2-40B4-BE49-F238E27FC236}">
                    <a16:creationId xmlns:a16="http://schemas.microsoft.com/office/drawing/2014/main" id="{F92D9986-7B3C-1D36-7A72-7931B3A866D5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/>
              <a:stretch/>
            </p:blipFill>
            <p:spPr bwMode="auto">
              <a:xfrm>
                <a:off x="5296638" y="4213783"/>
                <a:ext cx="346888" cy="3468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0" name="TextBox 16">
                <a:extLst>
                  <a:ext uri="{FF2B5EF4-FFF2-40B4-BE49-F238E27FC236}">
                    <a16:creationId xmlns:a16="http://schemas.microsoft.com/office/drawing/2014/main" id="{F603B198-0FFA-EC92-B075-DDD1EE7239DB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82790" y="4560671"/>
                <a:ext cx="1468727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/download-</a:t>
                </a:r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url</a:t>
                </a:r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 (GET)</a:t>
                </a:r>
              </a:p>
            </p:txBody>
          </p:sp>
        </p:grpSp>
        <p:sp>
          <p:nvSpPr>
            <p:cNvPr id="53" name="Rectangle 45">
              <a:extLst>
                <a:ext uri="{FF2B5EF4-FFF2-40B4-BE49-F238E27FC236}">
                  <a16:creationId xmlns:a16="http://schemas.microsoft.com/office/drawing/2014/main" id="{B06EE950-A146-43EF-8026-F342D8B43F45}"/>
                </a:ext>
              </a:extLst>
            </p:cNvPr>
            <p:cNvSpPr/>
            <p:nvPr/>
          </p:nvSpPr>
          <p:spPr>
            <a:xfrm>
              <a:off x="2436273" y="1639222"/>
              <a:ext cx="1710792" cy="2354928"/>
            </a:xfrm>
            <a:prstGeom prst="rect">
              <a:avLst/>
            </a:prstGeom>
            <a:noFill/>
            <a:ln w="15875">
              <a:solidFill>
                <a:srgbClr val="8C4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lIns="502920" tIns="91440"/>
            <a:lstStyle>
              <a:defPPr>
                <a:defRPr lang="en-US"/>
              </a:defPPr>
              <a:lvl1pPr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1pPr>
              <a:lvl2pPr marL="4572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2pPr>
              <a:lvl3pPr marL="9144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3pPr>
              <a:lvl4pPr marL="13716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4pPr>
              <a:lvl5pPr marL="1828800" algn="l" rtl="0" eaLnBrk="0" fontAlgn="base" hangingPunct="0">
                <a:spcBef>
                  <a:spcPct val="0"/>
                </a:spcBef>
                <a:spcAft>
                  <a:spcPct val="0"/>
                </a:spcAft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5pPr>
              <a:lvl6pPr marL="22860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6pPr>
              <a:lvl7pPr marL="27432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7pPr>
              <a:lvl8pPr marL="32004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8pPr>
              <a:lvl9pPr marL="3657600" algn="l" defTabSz="914400" rtl="0" eaLnBrk="1" latinLnBrk="0" hangingPunct="1">
                <a:defRPr kern="1200">
                  <a:solidFill>
                    <a:schemeClr val="lt1"/>
                  </a:solidFill>
                  <a:latin typeface="+mn-lt"/>
                  <a:ea typeface="+mn-ea"/>
                  <a:cs typeface="+mn-cs"/>
                </a:defRPr>
              </a:lvl9pPr>
            </a:lstStyle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Amazon API Gateway</a:t>
              </a:r>
            </a:p>
            <a:p>
              <a:pPr eaLnBrk="1" fontAlgn="auto" hangingPunct="1">
                <a:spcBef>
                  <a:spcPts val="0"/>
                </a:spcBef>
                <a:spcAft>
                  <a:spcPts val="0"/>
                </a:spcAft>
                <a:defRPr/>
              </a:pPr>
              <a:r>
                <a:rPr lang="en-US" sz="800" dirty="0">
                  <a:solidFill>
                    <a:schemeClr val="tx1"/>
                  </a:solidFill>
                  <a:latin typeface="Arial" panose="020B0604020202020204" pitchFamily="34" charset="0"/>
                  <a:cs typeface="Arial" panose="020B0604020202020204" pitchFamily="34" charset="0"/>
                </a:rPr>
                <a:t>S3SignedUrlApi</a:t>
              </a:r>
            </a:p>
          </p:txBody>
        </p:sp>
        <p:pic>
          <p:nvPicPr>
            <p:cNvPr id="54" name="Graphic 46">
              <a:extLst>
                <a:ext uri="{FF2B5EF4-FFF2-40B4-BE49-F238E27FC236}">
                  <a16:creationId xmlns:a16="http://schemas.microsoft.com/office/drawing/2014/main" id="{D91574DE-03DE-4251-8D1B-D51252BEA369}"/>
                </a:ext>
              </a:extLst>
            </p:cNvPr>
            <p:cNvPicPr>
              <a:picLocks noChangeAspect="1"/>
            </p:cNvPicPr>
            <p:nvPr/>
          </p:nvPicPr>
          <p:blipFill>
            <a:blip r:embed="rId17">
              <a:extLst>
                <a:ext uri="{96DAC541-7B7A-43D3-8B79-37D633B846F1}">
                  <asvg:svgBlip xmlns:asvg="http://schemas.microsoft.com/office/drawing/2016/SVG/main" r:embed="rId18"/>
                </a:ext>
              </a:extLst>
            </a:blip>
            <a:srcRect/>
            <a:stretch/>
          </p:blipFill>
          <p:spPr>
            <a:xfrm>
              <a:off x="2436272" y="1636364"/>
              <a:ext cx="381000" cy="381000"/>
            </a:xfrm>
            <a:prstGeom prst="rect">
              <a:avLst/>
            </a:prstGeom>
          </p:spPr>
        </p:pic>
        <p:grpSp>
          <p:nvGrpSpPr>
            <p:cNvPr id="56" name="Gruppieren 55">
              <a:extLst>
                <a:ext uri="{FF2B5EF4-FFF2-40B4-BE49-F238E27FC236}">
                  <a16:creationId xmlns:a16="http://schemas.microsoft.com/office/drawing/2014/main" id="{16210BF4-368B-2FB7-7DB1-78425F45A20B}"/>
                </a:ext>
              </a:extLst>
            </p:cNvPr>
            <p:cNvGrpSpPr/>
            <p:nvPr/>
          </p:nvGrpSpPr>
          <p:grpSpPr>
            <a:xfrm>
              <a:off x="2557305" y="3142960"/>
              <a:ext cx="1468727" cy="562332"/>
              <a:chOff x="4782790" y="4213783"/>
              <a:chExt cx="1468727" cy="562332"/>
            </a:xfrm>
          </p:grpSpPr>
          <p:pic>
            <p:nvPicPr>
              <p:cNvPr id="57" name="Graphic 6" descr="Endpoint resource icon for the Amazon API Gateway service.">
                <a:extLst>
                  <a:ext uri="{FF2B5EF4-FFF2-40B4-BE49-F238E27FC236}">
                    <a16:creationId xmlns:a16="http://schemas.microsoft.com/office/drawing/2014/main" id="{B3850080-A3D3-C83F-3D29-2CFA2E679A07}"/>
                  </a:ext>
                </a:extLst>
              </p:cNvPr>
              <p:cNvPicPr>
                <a:picLocks noChangeAspect="1" noChangeArrowheads="1"/>
              </p:cNvPicPr>
              <p:nvPr/>
            </p:nvPicPr>
            <p:blipFill>
              <a:blip r:embed="rId15">
                <a:extLst>
                  <a:ext uri="{96DAC541-7B7A-43D3-8B79-37D633B846F1}">
                    <asvg:svgBlip xmlns:asvg="http://schemas.microsoft.com/office/drawing/2016/SVG/main" r:embed="rId16"/>
                  </a:ext>
                </a:extLst>
              </a:blip>
              <a:srcRect/>
              <a:stretch/>
            </p:blipFill>
            <p:spPr bwMode="auto">
              <a:xfrm>
                <a:off x="5296638" y="4213783"/>
                <a:ext cx="346888" cy="346888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</p:pic>
          <p:sp>
            <p:nvSpPr>
              <p:cNvPr id="58" name="TextBox 16">
                <a:extLst>
                  <a:ext uri="{FF2B5EF4-FFF2-40B4-BE49-F238E27FC236}">
                    <a16:creationId xmlns:a16="http://schemas.microsoft.com/office/drawing/2014/main" id="{3DF64272-ADE9-3B8B-968B-B92950755B1E}"/>
                  </a:ext>
                </a:extLst>
              </p:cNvPr>
              <p:cNvSpPr txBox="1">
                <a:spLocks noChangeArrowheads="1"/>
              </p:cNvSpPr>
              <p:nvPr/>
            </p:nvSpPr>
            <p:spPr bwMode="auto">
              <a:xfrm>
                <a:off x="4782790" y="4560671"/>
                <a:ext cx="1468727" cy="215444"/>
              </a:xfrm>
              <a:prstGeom prst="rect">
                <a:avLst/>
              </a:prstGeom>
              <a:noFill/>
              <a:ln>
                <a:noFill/>
              </a:ln>
              <a:extLst>
                <a:ext uri="{909E8E84-426E-40DD-AFC4-6F175D3DCCD1}">
                  <a14:hiddenFill xmlns:a14="http://schemas.microsoft.com/office/drawing/2010/main">
                    <a:solidFill>
                      <a:srgbClr val="FFFFFF"/>
                    </a:solidFill>
                  </a14:hiddenFill>
                </a:ext>
                <a:ext uri="{91240B29-F687-4F45-9708-019B960494DF}">
                  <a14:hiddenLine xmlns:a14="http://schemas.microsoft.com/office/drawing/2010/main" w="9525">
                    <a:solidFill>
                      <a:srgbClr val="000000"/>
                    </a:solidFill>
                    <a:miter lim="800000"/>
                    <a:headEnd/>
                    <a:tailEnd/>
                  </a14:hiddenLine>
                </a:ext>
              </a:extLst>
            </p:spPr>
            <p:txBody>
              <a:bodyPr wrap="square">
                <a:spAutoFit/>
              </a:bodyPr>
              <a:lstStyle>
                <a:defPPr>
                  <a:defRPr lang="en-US"/>
                </a:defPPr>
                <a:lvl1pPr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1pPr>
                <a:lvl2pPr marL="742950" indent="-28575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2pPr>
                <a:lvl3pPr marL="11430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3pPr>
                <a:lvl4pPr marL="16002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4pPr>
                <a:lvl5pPr marL="2057400" indent="-228600" algn="l" rtl="0" eaLnBrk="0" fontAlgn="base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5pPr>
                <a:lvl6pPr marL="25146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6pPr>
                <a:lvl7pPr marL="29718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7pPr>
                <a:lvl8pPr marL="34290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8pPr>
                <a:lvl9pPr marL="3886200" indent="-228600" algn="l" defTabSz="914400" rtl="0" eaLnBrk="0" fontAlgn="base" latinLnBrk="0" hangingPunct="0">
                  <a:spcBef>
                    <a:spcPct val="0"/>
                  </a:spcBef>
                  <a:spcAft>
                    <a:spcPct val="0"/>
                  </a:spcAft>
                  <a:defRPr kern="1200">
                    <a:solidFill>
                      <a:schemeClr val="tx1"/>
                    </a:solidFill>
                    <a:latin typeface="Calibri" panose="020F0502020204030204" pitchFamily="34" charset="0"/>
                    <a:ea typeface="+mn-ea"/>
                    <a:cs typeface="+mn-cs"/>
                  </a:defRPr>
                </a:lvl9pPr>
              </a:lstStyle>
              <a:p>
                <a:pPr algn="ctr" eaLnBrk="1" hangingPunct="1"/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/upload-</a:t>
                </a:r>
                <a:r>
                  <a:rPr lang="en-US" altLang="en-US" sz="800" dirty="0" err="1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url</a:t>
                </a:r>
                <a:r>
                  <a:rPr lang="en-US" altLang="en-US" sz="800" dirty="0">
                    <a:latin typeface="Arial" panose="020B0604020202020204" pitchFamily="34" charset="0"/>
                    <a:ea typeface="Amazon Ember" panose="020B0603020204020204" pitchFamily="34" charset="0"/>
                    <a:cs typeface="Arial" panose="020B0604020202020204" pitchFamily="34" charset="0"/>
                  </a:rPr>
                  <a:t> (GET)</a:t>
                </a:r>
              </a:p>
            </p:txBody>
          </p:sp>
        </p:grpSp>
      </p:grpSp>
      <p:pic>
        <p:nvPicPr>
          <p:cNvPr id="62" name="Graphic 22" descr="User resource icon for the General Icons category.">
            <a:extLst>
              <a:ext uri="{FF2B5EF4-FFF2-40B4-BE49-F238E27FC236}">
                <a16:creationId xmlns:a16="http://schemas.microsoft.com/office/drawing/2014/main" id="{D3FCDB7F-683E-4484-95A8-98DE76742D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9">
            <a:extLst>
              <a:ext uri="{96DAC541-7B7A-43D3-8B79-37D633B846F1}">
                <asvg:svgBlip xmlns:asvg="http://schemas.microsoft.com/office/drawing/2016/SVG/main" r:embed="rId20"/>
              </a:ext>
            </a:extLst>
          </a:blip>
          <a:srcRect/>
          <a:stretch/>
        </p:blipFill>
        <p:spPr bwMode="auto">
          <a:xfrm>
            <a:off x="1557825" y="3229291"/>
            <a:ext cx="457200" cy="457200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63" name="TextBox 39">
            <a:extLst>
              <a:ext uri="{FF2B5EF4-FFF2-40B4-BE49-F238E27FC236}">
                <a16:creationId xmlns:a16="http://schemas.microsoft.com/office/drawing/2014/main" id="{4DE1AC13-586D-4D66-AE44-D6FE654D48ED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251741" y="3765066"/>
            <a:ext cx="107315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en-US" altLang="en-US" sz="800" dirty="0">
                <a:latin typeface="Arial" panose="020B0604020202020204" pitchFamily="34" charset="0"/>
                <a:cs typeface="Arial" panose="020B0604020202020204" pitchFamily="34" charset="0"/>
              </a:rPr>
              <a:t>User</a:t>
            </a:r>
          </a:p>
        </p:txBody>
      </p:sp>
      <p:pic>
        <p:nvPicPr>
          <p:cNvPr id="64" name="Graphic 68" descr="Client resource icon for the General Icons category.">
            <a:extLst>
              <a:ext uri="{FF2B5EF4-FFF2-40B4-BE49-F238E27FC236}">
                <a16:creationId xmlns:a16="http://schemas.microsoft.com/office/drawing/2014/main" id="{B409BAE7-B594-48DE-A515-288D23E675D4}"/>
              </a:ext>
            </a:extLst>
          </p:cNvPr>
          <p:cNvPicPr>
            <a:picLocks noChangeAspect="1"/>
          </p:cNvPicPr>
          <p:nvPr/>
        </p:nvPicPr>
        <p:blipFill>
          <a:blip r:embed="rId21">
            <a:extLst>
              <a:ext uri="{96DAC541-7B7A-43D3-8B79-37D633B846F1}">
                <asvg:svgBlip xmlns:asvg="http://schemas.microsoft.com/office/drawing/2016/SVG/main" r:embed="rId22"/>
              </a:ext>
            </a:extLst>
          </a:blip>
          <a:stretch>
            <a:fillRect/>
          </a:stretch>
        </p:blipFill>
        <p:spPr>
          <a:xfrm>
            <a:off x="2146562" y="3236451"/>
            <a:ext cx="457200" cy="457200"/>
          </a:xfrm>
          <a:prstGeom prst="rect">
            <a:avLst/>
          </a:prstGeom>
        </p:spPr>
      </p:pic>
      <p:sp>
        <p:nvSpPr>
          <p:cNvPr id="65" name="TextBox 25">
            <a:extLst>
              <a:ext uri="{FF2B5EF4-FFF2-40B4-BE49-F238E27FC236}">
                <a16:creationId xmlns:a16="http://schemas.microsoft.com/office/drawing/2014/main" id="{0BA1D6A3-006B-412E-B5D6-B26E826FA4A6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1838587" y="3796380"/>
            <a:ext cx="1073150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>
            <a:spAutoFit/>
          </a:bodyPr>
          <a:lstStyle>
            <a:defPPr>
              <a:defRPr lang="en-US"/>
            </a:defPPr>
            <a:lvl1pPr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1pPr>
            <a:lvl2pPr marL="742950" indent="-28575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2pPr>
            <a:lvl3pPr marL="11430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3pPr>
            <a:lvl4pPr marL="16002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4pPr>
            <a:lvl5pPr marL="2057400" indent="-228600" algn="l" rtl="0" eaLnBrk="0" fontAlgn="base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5pPr>
            <a:lvl6pPr marL="25146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6pPr>
            <a:lvl7pPr marL="29718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7pPr>
            <a:lvl8pPr marL="34290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8pPr>
            <a:lvl9pPr marL="3886200" indent="-228600" algn="l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defRPr kern="1200">
                <a:solidFill>
                  <a:schemeClr val="tx1"/>
                </a:solidFill>
                <a:latin typeface="Calibri" panose="020F0502020204030204" pitchFamily="34" charset="0"/>
                <a:ea typeface="+mn-ea"/>
                <a:cs typeface="+mn-cs"/>
              </a:defRPr>
            </a:lvl9pPr>
          </a:lstStyle>
          <a:p>
            <a:pPr algn="ctr" eaLnBrk="1" hangingPunct="1"/>
            <a:r>
              <a:rPr lang="en-US" altLang="en-US" sz="800" dirty="0">
                <a:latin typeface="Arial" panose="020B0604020202020204" pitchFamily="34" charset="0"/>
                <a:cs typeface="Arial" panose="020B0604020202020204" pitchFamily="34" charset="0"/>
              </a:rPr>
              <a:t>Client</a:t>
            </a:r>
          </a:p>
        </p:txBody>
      </p:sp>
      <p:cxnSp>
        <p:nvCxnSpPr>
          <p:cNvPr id="80" name="Verbinder: gewinkelt 79">
            <a:extLst>
              <a:ext uri="{FF2B5EF4-FFF2-40B4-BE49-F238E27FC236}">
                <a16:creationId xmlns:a16="http://schemas.microsoft.com/office/drawing/2014/main" id="{32F3F05F-F99A-AC9D-A2D1-F6A5B3D05507}"/>
              </a:ext>
            </a:extLst>
          </p:cNvPr>
          <p:cNvCxnSpPr>
            <a:cxnSpLocks/>
          </p:cNvCxnSpPr>
          <p:nvPr/>
        </p:nvCxnSpPr>
        <p:spPr>
          <a:xfrm rot="10800000" flipV="1">
            <a:off x="2640662" y="3208490"/>
            <a:ext cx="1210587" cy="204929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5" name="Verbinder: gewinkelt 84">
            <a:extLst>
              <a:ext uri="{FF2B5EF4-FFF2-40B4-BE49-F238E27FC236}">
                <a16:creationId xmlns:a16="http://schemas.microsoft.com/office/drawing/2014/main" id="{1097084B-EEC3-CF96-1B01-5357619A3A74}"/>
              </a:ext>
            </a:extLst>
          </p:cNvPr>
          <p:cNvCxnSpPr>
            <a:cxnSpLocks/>
          </p:cNvCxnSpPr>
          <p:nvPr/>
        </p:nvCxnSpPr>
        <p:spPr>
          <a:xfrm>
            <a:off x="2659530" y="3628862"/>
            <a:ext cx="1177826" cy="310268"/>
          </a:xfrm>
          <a:prstGeom prst="bentConnector3">
            <a:avLst>
              <a:gd name="adj1" fmla="val 50000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1" name="Gerader Verbinder 90">
            <a:extLst>
              <a:ext uri="{FF2B5EF4-FFF2-40B4-BE49-F238E27FC236}">
                <a16:creationId xmlns:a16="http://schemas.microsoft.com/office/drawing/2014/main" id="{6968F1C1-DBD2-5BA3-2DBB-AEC3A607843E}"/>
              </a:ext>
            </a:extLst>
          </p:cNvPr>
          <p:cNvCxnSpPr/>
          <p:nvPr/>
        </p:nvCxnSpPr>
        <p:spPr>
          <a:xfrm>
            <a:off x="4516619" y="3072490"/>
            <a:ext cx="1799985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95" name="Gerader Verbinder 94">
            <a:extLst>
              <a:ext uri="{FF2B5EF4-FFF2-40B4-BE49-F238E27FC236}">
                <a16:creationId xmlns:a16="http://schemas.microsoft.com/office/drawing/2014/main" id="{ABC6E13C-0B17-AA8F-39B4-EC79741C33A1}"/>
              </a:ext>
            </a:extLst>
          </p:cNvPr>
          <p:cNvCxnSpPr/>
          <p:nvPr/>
        </p:nvCxnSpPr>
        <p:spPr>
          <a:xfrm>
            <a:off x="4516618" y="3913172"/>
            <a:ext cx="1799985" cy="0"/>
          </a:xfrm>
          <a:prstGeom prst="line">
            <a:avLst/>
          </a:prstGeom>
          <a:ln w="6350" cap="flat" cmpd="sng" algn="ctr">
            <a:solidFill>
              <a:schemeClr val="tx1"/>
            </a:solidFill>
            <a:prstDash val="solid"/>
            <a:round/>
            <a:headEnd type="arrow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01" name="Verbinder: gewinkelt 100">
            <a:extLst>
              <a:ext uri="{FF2B5EF4-FFF2-40B4-BE49-F238E27FC236}">
                <a16:creationId xmlns:a16="http://schemas.microsoft.com/office/drawing/2014/main" id="{4A259663-A805-E6C4-79DB-11C083EC357B}"/>
              </a:ext>
            </a:extLst>
          </p:cNvPr>
          <p:cNvCxnSpPr>
            <a:cxnSpLocks/>
            <a:stCxn id="21" idx="1"/>
            <a:endCxn id="11" idx="0"/>
          </p:cNvCxnSpPr>
          <p:nvPr/>
        </p:nvCxnSpPr>
        <p:spPr>
          <a:xfrm rot="10800000" flipH="1" flipV="1">
            <a:off x="5952163" y="1307778"/>
            <a:ext cx="701119" cy="1569467"/>
          </a:xfrm>
          <a:prstGeom prst="bentConnector4">
            <a:avLst>
              <a:gd name="adj1" fmla="val -116291"/>
              <a:gd name="adj2" fmla="val 55595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05" name="Verbinder: gewinkelt 104">
            <a:extLst>
              <a:ext uri="{FF2B5EF4-FFF2-40B4-BE49-F238E27FC236}">
                <a16:creationId xmlns:a16="http://schemas.microsoft.com/office/drawing/2014/main" id="{4AAD15DD-CB68-304A-5295-EA8893CC11AD}"/>
              </a:ext>
            </a:extLst>
          </p:cNvPr>
          <p:cNvCxnSpPr>
            <a:cxnSpLocks/>
            <a:stCxn id="46" idx="3"/>
            <a:endCxn id="14" idx="2"/>
          </p:cNvCxnSpPr>
          <p:nvPr/>
        </p:nvCxnSpPr>
        <p:spPr>
          <a:xfrm flipH="1">
            <a:off x="6678703" y="1315870"/>
            <a:ext cx="596038" cy="2985882"/>
          </a:xfrm>
          <a:prstGeom prst="bentConnector4">
            <a:avLst>
              <a:gd name="adj1" fmla="val -62643"/>
              <a:gd name="adj2" fmla="val 107656"/>
            </a:avLst>
          </a:prstGeom>
          <a:ln w="9525">
            <a:solidFill>
              <a:schemeClr val="tx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1" name="Verbinder: gewinkelt 110">
            <a:extLst>
              <a:ext uri="{FF2B5EF4-FFF2-40B4-BE49-F238E27FC236}">
                <a16:creationId xmlns:a16="http://schemas.microsoft.com/office/drawing/2014/main" id="{413583A2-0F67-BF10-F3D5-EA2255509F8F}"/>
              </a:ext>
            </a:extLst>
          </p:cNvPr>
          <p:cNvCxnSpPr>
            <a:cxnSpLocks/>
            <a:stCxn id="65" idx="2"/>
            <a:endCxn id="8" idx="2"/>
          </p:cNvCxnSpPr>
          <p:nvPr/>
        </p:nvCxnSpPr>
        <p:spPr>
          <a:xfrm rot="16200000" flipH="1">
            <a:off x="5698130" y="688855"/>
            <a:ext cx="53561" cy="6699497"/>
          </a:xfrm>
          <a:prstGeom prst="bentConnector3">
            <a:avLst>
              <a:gd name="adj1" fmla="val 2006387"/>
            </a:avLst>
          </a:prstGeom>
          <a:ln w="63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2" name="Textfeld 121">
            <a:extLst>
              <a:ext uri="{FF2B5EF4-FFF2-40B4-BE49-F238E27FC236}">
                <a16:creationId xmlns:a16="http://schemas.microsoft.com/office/drawing/2014/main" id="{BE22422E-5FDC-0686-1DD5-B9BD7D90EFC9}"/>
              </a:ext>
            </a:extLst>
          </p:cNvPr>
          <p:cNvSpPr txBox="1"/>
          <p:nvPr/>
        </p:nvSpPr>
        <p:spPr>
          <a:xfrm>
            <a:off x="4760218" y="4812328"/>
            <a:ext cx="1968809" cy="24622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de-DE" sz="1000" dirty="0" err="1"/>
              <a:t>upload</a:t>
            </a:r>
            <a:r>
              <a:rPr lang="de-DE" sz="1000" dirty="0"/>
              <a:t> / </a:t>
            </a:r>
            <a:r>
              <a:rPr lang="de-DE" sz="1000" dirty="0" err="1"/>
              <a:t>download</a:t>
            </a:r>
            <a:r>
              <a:rPr lang="de-DE" sz="1000" dirty="0"/>
              <a:t> via </a:t>
            </a:r>
            <a:r>
              <a:rPr lang="de-DE" sz="1000" dirty="0" err="1"/>
              <a:t>signed</a:t>
            </a:r>
            <a:r>
              <a:rPr lang="de-DE" sz="1000" dirty="0"/>
              <a:t> </a:t>
            </a:r>
            <a:r>
              <a:rPr lang="de-DE" sz="1000" dirty="0" err="1"/>
              <a:t>url</a:t>
            </a:r>
            <a:endParaRPr lang="de-CH" sz="1000" dirty="0"/>
          </a:p>
        </p:txBody>
      </p:sp>
    </p:spTree>
    <p:extLst>
      <p:ext uri="{BB962C8B-B14F-4D97-AF65-F5344CB8AC3E}">
        <p14:creationId xmlns:p14="http://schemas.microsoft.com/office/powerpoint/2010/main" val="4019612815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37</Words>
  <Application>Microsoft Office PowerPoint</Application>
  <PresentationFormat>Breitbild</PresentationFormat>
  <Paragraphs>15</Paragraphs>
  <Slides>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</vt:i4>
      </vt:variant>
    </vt:vector>
  </HeadingPairs>
  <TitlesOfParts>
    <vt:vector size="5" baseType="lpstr">
      <vt:lpstr>Aptos</vt:lpstr>
      <vt:lpstr>Aptos Display</vt:lpstr>
      <vt:lpstr>Arial</vt:lpstr>
      <vt:lpstr>Office</vt:lpstr>
      <vt:lpstr>PowerPoint-Präsentation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Andreas Wassmer</dc:creator>
  <cp:lastModifiedBy>Andreas Wassmer</cp:lastModifiedBy>
  <cp:revision>19</cp:revision>
  <dcterms:created xsi:type="dcterms:W3CDTF">2025-12-17T07:23:24Z</dcterms:created>
  <dcterms:modified xsi:type="dcterms:W3CDTF">2025-12-17T09:07:10Z</dcterms:modified>
</cp:coreProperties>
</file>