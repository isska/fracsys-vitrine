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83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38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C9DA1F-F6CE-022B-DD14-6A9F48ADE5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952B226-3C7E-0C89-FF32-2463BBDD80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2E18A96-882B-0608-9AAB-D4FEAD7CA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691EA-DFA8-437B-AC58-1971B4E320FD}" type="datetimeFigureOut">
              <a:rPr lang="de-CH" smtClean="0"/>
              <a:t>18.12.2025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A05702B-25C8-3573-BF26-D79F821E3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05FD90F-1405-AB67-7BA3-BC4A87EDC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838F3-3778-431D-93FE-0342B45C9F77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479475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526440-4BED-0A29-4076-22038E7F5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4753FF4-144F-2E8D-292C-BD3411CCFD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C186E19-2F65-5470-A0BC-07C3B2127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691EA-DFA8-437B-AC58-1971B4E320FD}" type="datetimeFigureOut">
              <a:rPr lang="de-CH" smtClean="0"/>
              <a:t>18.12.2025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5534288-ED2D-3854-0FA0-F5A1DB2F5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530728B-2DB2-71D7-82D0-D43B46DC5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838F3-3778-431D-93FE-0342B45C9F77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125311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825B32-7514-1551-F9DF-2D1A57AB5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B707D85-E52A-A22F-8F65-A089A54648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10315EA-5AF0-2987-31E6-316D5F4C5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691EA-DFA8-437B-AC58-1971B4E320FD}" type="datetimeFigureOut">
              <a:rPr lang="de-CH" smtClean="0"/>
              <a:t>18.12.2025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B979A0E-FB09-289D-46EE-F81A391DE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186EBA5-170C-1296-9CC4-A7EE31C0B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838F3-3778-431D-93FE-0342B45C9F77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514074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162C55-689F-676B-186F-253DDE334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50CC6C8-5C2B-9469-EF3B-759F04EAAB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402A80C-5A80-7260-2DAB-9B9D64E208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98F5E6A-09A4-5F2F-922B-2D69C9B05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691EA-DFA8-437B-AC58-1971B4E320FD}" type="datetimeFigureOut">
              <a:rPr lang="de-CH" smtClean="0"/>
              <a:t>18.12.2025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C00C77B-3CD4-758C-033B-6C55D9630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7084B60-43DF-6F44-95C7-ABEBAF0D5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838F3-3778-431D-93FE-0342B45C9F77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28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5D6F54-D9B9-6B57-2EE2-CE50AEEAD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2CC6C5D-998F-4CC5-D170-ED1FB6ADF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C5BD52A-63B0-D89F-877F-F8CF674A53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05375E1-10E8-8709-6A9F-5421BAE3A4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D26ABFF-6FF6-9DC7-EB19-5CE408170A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5D8C92C8-5A74-1597-3075-5C8680ADB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691EA-DFA8-437B-AC58-1971B4E320FD}" type="datetimeFigureOut">
              <a:rPr lang="de-CH" smtClean="0"/>
              <a:t>18.12.2025</a:t>
            </a:fld>
            <a:endParaRPr lang="de-CH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308B3BA-E390-04A4-8098-C49C3CF72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83414D7-5001-C5C5-BD44-4EE666C99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838F3-3778-431D-93FE-0342B45C9F77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997496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824706-9C45-5243-BAB7-05C28F93B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1743952-DE64-6535-5CD2-A87D7A9A5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691EA-DFA8-437B-AC58-1971B4E320FD}" type="datetimeFigureOut">
              <a:rPr lang="de-CH" smtClean="0"/>
              <a:t>18.12.2025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DC5FF35-762D-78A6-B9CF-466C1C003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DFB7964-141B-F674-17DD-060D68914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838F3-3778-431D-93FE-0342B45C9F77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482264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CC8CB6F-19EA-2643-2B40-946FC83F8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691EA-DFA8-437B-AC58-1971B4E320FD}" type="datetimeFigureOut">
              <a:rPr lang="de-CH" smtClean="0"/>
              <a:t>18.12.2025</a:t>
            </a:fld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7056AE1-A5D5-BDF2-4E3E-E84D54993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399905C-0730-582D-8219-57B210490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838F3-3778-431D-93FE-0342B45C9F77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709050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1BA29F-4435-B521-462B-32478478E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CA588BB-078C-4F2A-680F-FC09DB862C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11A2544-0F31-6234-B619-E52200D7CE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3AC98E9-26B4-6628-D617-6905A0C62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691EA-DFA8-437B-AC58-1971B4E320FD}" type="datetimeFigureOut">
              <a:rPr lang="de-CH" smtClean="0"/>
              <a:t>18.12.2025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BD6107E-9E9B-F0B5-B32D-E51264A50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558D300-DEED-D2A8-D8BB-D4FCDE1AD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838F3-3778-431D-93FE-0342B45C9F77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29057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88966F-E3E2-5E19-989D-C51670F8F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43314CDD-CBA7-C89A-7EA4-013ACA2145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1BEF79E-747F-B6B7-77D9-9424F24DB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9119997-A748-C8A1-1E3E-D6257DCD4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691EA-DFA8-437B-AC58-1971B4E320FD}" type="datetimeFigureOut">
              <a:rPr lang="de-CH" smtClean="0"/>
              <a:t>18.12.2025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DF9A0C0-CBA2-DCE9-ED7E-70D3614E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16C774-0A9F-D719-52EC-EA8053CD3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838F3-3778-431D-93FE-0342B45C9F77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20452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EFBC8C-DA3E-E342-381D-E9ED39FC6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01BA359-C5ED-EEBB-0DC9-550663D899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590E8B5-8FD3-C981-95B0-B4854AA5C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691EA-DFA8-437B-AC58-1971B4E320FD}" type="datetimeFigureOut">
              <a:rPr lang="de-CH" smtClean="0"/>
              <a:t>18.12.2025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A8F3064-C26A-4634-C5CA-4DCEEA049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60B5F96-1F12-0D03-D847-6FE9ECEC8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838F3-3778-431D-93FE-0342B45C9F77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2901504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0884DA0A-FA39-2C2E-01A0-9E1B24A73E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071A78E-3BCA-5BEC-BD61-BD67BE2B62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3CDA43B-2D2F-D5F3-8BFF-849349EFE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691EA-DFA8-437B-AC58-1971B4E320FD}" type="datetimeFigureOut">
              <a:rPr lang="de-CH" smtClean="0"/>
              <a:t>18.12.2025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86419DF-2C48-C953-526B-61748FC22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96EF360-B990-05D5-8CB3-CA2491A19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838F3-3778-431D-93FE-0342B45C9F77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625463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76B16CA0-70AB-6935-264B-610B691FB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BD29915-AF34-D339-2DDC-562DC4DA04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ED7BAEC-40BD-3223-2DF8-FEE2A82CB3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4691EA-DFA8-437B-AC58-1971B4E320FD}" type="datetimeFigureOut">
              <a:rPr lang="de-CH" smtClean="0"/>
              <a:t>18.12.2025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D4BA414-CF4D-CD53-2D20-198FFCA043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8BBB2AF-0DC3-8846-BE8E-8FF71168EA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2838F3-3778-431D-93FE-0342B45C9F77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635708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svg"/><Relationship Id="rId18" Type="http://schemas.openxmlformats.org/officeDocument/2006/relationships/image" Target="../media/image27.svg"/><Relationship Id="rId3" Type="http://schemas.openxmlformats.org/officeDocument/2006/relationships/image" Target="../media/image2.svg"/><Relationship Id="rId21" Type="http://schemas.openxmlformats.org/officeDocument/2006/relationships/image" Target="../media/image3.png"/><Relationship Id="rId7" Type="http://schemas.openxmlformats.org/officeDocument/2006/relationships/image" Target="../media/image16.svg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" Type="http://schemas.openxmlformats.org/officeDocument/2006/relationships/image" Target="../media/image1.png"/><Relationship Id="rId16" Type="http://schemas.openxmlformats.org/officeDocument/2006/relationships/image" Target="../media/image25.svg"/><Relationship Id="rId20" Type="http://schemas.openxmlformats.org/officeDocument/2006/relationships/image" Target="../media/image29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svg"/><Relationship Id="rId5" Type="http://schemas.openxmlformats.org/officeDocument/2006/relationships/image" Target="../media/image14.svg"/><Relationship Id="rId15" Type="http://schemas.openxmlformats.org/officeDocument/2006/relationships/image" Target="../media/image24.png"/><Relationship Id="rId10" Type="http://schemas.openxmlformats.org/officeDocument/2006/relationships/image" Target="../media/image19.png"/><Relationship Id="rId19" Type="http://schemas.openxmlformats.org/officeDocument/2006/relationships/image" Target="../media/image28.png"/><Relationship Id="rId4" Type="http://schemas.openxmlformats.org/officeDocument/2006/relationships/image" Target="../media/image13.png"/><Relationship Id="rId9" Type="http://schemas.openxmlformats.org/officeDocument/2006/relationships/image" Target="../media/image18.svg"/><Relationship Id="rId14" Type="http://schemas.openxmlformats.org/officeDocument/2006/relationships/image" Target="../media/image23.png"/><Relationship Id="rId22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0D2E3-7561-84E8-AB02-975C31068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4">
            <a:extLst>
              <a:ext uri="{FF2B5EF4-FFF2-40B4-BE49-F238E27FC236}">
                <a16:creationId xmlns:a16="http://schemas.microsoft.com/office/drawing/2014/main" id="{EFFA25B7-84D6-DA40-3EB8-B9448CD99C3D}"/>
              </a:ext>
            </a:extLst>
          </p:cNvPr>
          <p:cNvSpPr/>
          <p:nvPr/>
        </p:nvSpPr>
        <p:spPr>
          <a:xfrm>
            <a:off x="1318320" y="1032485"/>
            <a:ext cx="9322902" cy="5081127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Graphic 55" descr="AWS Cloud group icon with AWS logo.">
            <a:extLst>
              <a:ext uri="{FF2B5EF4-FFF2-40B4-BE49-F238E27FC236}">
                <a16:creationId xmlns:a16="http://schemas.microsoft.com/office/drawing/2014/main" id="{4C5F8306-A7DA-E0B9-F8BA-AD251F0590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318320" y="1032485"/>
            <a:ext cx="710227" cy="710227"/>
          </a:xfrm>
          <a:prstGeom prst="rect">
            <a:avLst/>
          </a:prstGeom>
        </p:spPr>
      </p:pic>
      <p:pic>
        <p:nvPicPr>
          <p:cNvPr id="64" name="Graphic 68" descr="Client resource icon for the General Icons category.">
            <a:extLst>
              <a:ext uri="{FF2B5EF4-FFF2-40B4-BE49-F238E27FC236}">
                <a16:creationId xmlns:a16="http://schemas.microsoft.com/office/drawing/2014/main" id="{7580BAD7-BED9-09EB-09E3-4F8CBD56AC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39515" y="3610505"/>
            <a:ext cx="650839" cy="650839"/>
          </a:xfrm>
          <a:prstGeom prst="rect">
            <a:avLst/>
          </a:prstGeom>
        </p:spPr>
      </p:pic>
      <p:sp>
        <p:nvSpPr>
          <p:cNvPr id="65" name="TextBox 25">
            <a:extLst>
              <a:ext uri="{FF2B5EF4-FFF2-40B4-BE49-F238E27FC236}">
                <a16:creationId xmlns:a16="http://schemas.microsoft.com/office/drawing/2014/main" id="{90594D3B-97FE-29F7-C28C-0D67E8CCED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2722" y="4293737"/>
            <a:ext cx="107315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Client</a:t>
            </a:r>
          </a:p>
        </p:txBody>
      </p:sp>
      <p:sp>
        <p:nvSpPr>
          <p:cNvPr id="122" name="Textfeld 121">
            <a:extLst>
              <a:ext uri="{FF2B5EF4-FFF2-40B4-BE49-F238E27FC236}">
                <a16:creationId xmlns:a16="http://schemas.microsoft.com/office/drawing/2014/main" id="{3988FD88-C6A3-AABD-ABD4-013AD0899462}"/>
              </a:ext>
            </a:extLst>
          </p:cNvPr>
          <p:cNvSpPr txBox="1"/>
          <p:nvPr/>
        </p:nvSpPr>
        <p:spPr>
          <a:xfrm>
            <a:off x="4742965" y="5485188"/>
            <a:ext cx="23296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 err="1"/>
              <a:t>upload</a:t>
            </a:r>
            <a:r>
              <a:rPr lang="de-DE" sz="1200" dirty="0"/>
              <a:t> / </a:t>
            </a:r>
            <a:r>
              <a:rPr lang="de-DE" sz="1200" dirty="0" err="1"/>
              <a:t>download</a:t>
            </a:r>
            <a:r>
              <a:rPr lang="de-DE" sz="1200" dirty="0"/>
              <a:t> via </a:t>
            </a:r>
            <a:r>
              <a:rPr lang="de-DE" sz="1200" dirty="0" err="1"/>
              <a:t>signed</a:t>
            </a:r>
            <a:r>
              <a:rPr lang="de-DE" sz="1200" dirty="0"/>
              <a:t> </a:t>
            </a:r>
            <a:r>
              <a:rPr lang="de-DE" sz="1200" dirty="0" err="1"/>
              <a:t>url</a:t>
            </a:r>
            <a:endParaRPr lang="de-CH" sz="1200"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34B36C27-35E2-76DB-DE07-E9580D647722}"/>
              </a:ext>
            </a:extLst>
          </p:cNvPr>
          <p:cNvSpPr txBox="1"/>
          <p:nvPr/>
        </p:nvSpPr>
        <p:spPr>
          <a:xfrm>
            <a:off x="4295490" y="547328"/>
            <a:ext cx="2443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Architecture </a:t>
            </a:r>
            <a:r>
              <a:rPr lang="de-DE" dirty="0" err="1"/>
              <a:t>simplified</a:t>
            </a:r>
            <a:endParaRPr lang="de-CH" dirty="0"/>
          </a:p>
        </p:txBody>
      </p:sp>
      <p:pic>
        <p:nvPicPr>
          <p:cNvPr id="3" name="Graphic 7" descr="Amazon API Gateway service icon.">
            <a:extLst>
              <a:ext uri="{FF2B5EF4-FFF2-40B4-BE49-F238E27FC236}">
                <a16:creationId xmlns:a16="http://schemas.microsoft.com/office/drawing/2014/main" id="{10686CB2-0E27-278D-A9CB-F33F9B076D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 bwMode="auto">
          <a:xfrm>
            <a:off x="4124557" y="3521151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9">
            <a:extLst>
              <a:ext uri="{FF2B5EF4-FFF2-40B4-BE49-F238E27FC236}">
                <a16:creationId xmlns:a16="http://schemas.microsoft.com/office/drawing/2014/main" id="{81BC3517-6C6D-63B1-5B85-7E9B8A9ACA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4782" y="4283151"/>
            <a:ext cx="224313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API Gateway</a:t>
            </a:r>
          </a:p>
        </p:txBody>
      </p:sp>
      <p:pic>
        <p:nvPicPr>
          <p:cNvPr id="10" name="Graphic 8" descr="Amazon Simple Storage Service (Amazon S3) service icon.">
            <a:extLst>
              <a:ext uri="{FF2B5EF4-FFF2-40B4-BE49-F238E27FC236}">
                <a16:creationId xmlns:a16="http://schemas.microsoft.com/office/drawing/2014/main" id="{566712FB-C681-3177-DB29-509D90BDDB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 bwMode="auto">
          <a:xfrm>
            <a:off x="8292936" y="3573017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9">
            <a:extLst>
              <a:ext uri="{FF2B5EF4-FFF2-40B4-BE49-F238E27FC236}">
                <a16:creationId xmlns:a16="http://schemas.microsoft.com/office/drawing/2014/main" id="{2A2F39F9-0789-22AF-7C3F-23741F7D44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3161" y="4336604"/>
            <a:ext cx="22399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Simple Storage Service (Amazon S3)</a:t>
            </a:r>
          </a:p>
        </p:txBody>
      </p:sp>
      <p:pic>
        <p:nvPicPr>
          <p:cNvPr id="16" name="Graphic 10" descr="AWS Lambda service icon.">
            <a:extLst>
              <a:ext uri="{FF2B5EF4-FFF2-40B4-BE49-F238E27FC236}">
                <a16:creationId xmlns:a16="http://schemas.microsoft.com/office/drawing/2014/main" id="{E84AA64E-CB23-2157-2F2A-A2083F20FD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 bwMode="auto">
          <a:xfrm>
            <a:off x="6183083" y="3519948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Box 20">
            <a:extLst>
              <a:ext uri="{FF2B5EF4-FFF2-40B4-BE49-F238E27FC236}">
                <a16:creationId xmlns:a16="http://schemas.microsoft.com/office/drawing/2014/main" id="{F9747CF0-7667-1573-5C73-D7A55822A6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2409" y="4281948"/>
            <a:ext cx="229235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Lambda</a:t>
            </a:r>
          </a:p>
        </p:txBody>
      </p:sp>
      <p:pic>
        <p:nvPicPr>
          <p:cNvPr id="18" name="Graphic 19" descr="AWS Identity and Access Management (IAM) service icon.">
            <a:extLst>
              <a:ext uri="{FF2B5EF4-FFF2-40B4-BE49-F238E27FC236}">
                <a16:creationId xmlns:a16="http://schemas.microsoft.com/office/drawing/2014/main" id="{C55B3D19-7927-4036-A51E-54D2269146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 bwMode="auto">
          <a:xfrm>
            <a:off x="6191709" y="1638977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extBox 12">
            <a:extLst>
              <a:ext uri="{FF2B5EF4-FFF2-40B4-BE49-F238E27FC236}">
                <a16:creationId xmlns:a16="http://schemas.microsoft.com/office/drawing/2014/main" id="{53BFE564-0BCC-787A-4EB7-9D8A3F8269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2409" y="2400977"/>
            <a:ext cx="22796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Identity and Access Management (IAM)</a:t>
            </a:r>
          </a:p>
        </p:txBody>
      </p: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74010803-8823-B289-1C61-23648FAB601E}"/>
              </a:ext>
            </a:extLst>
          </p:cNvPr>
          <p:cNvCxnSpPr/>
          <p:nvPr/>
        </p:nvCxnSpPr>
        <p:spPr>
          <a:xfrm flipV="1">
            <a:off x="2945872" y="3902151"/>
            <a:ext cx="1065411" cy="7160"/>
          </a:xfrm>
          <a:prstGeom prst="straightConnector1">
            <a:avLst/>
          </a:prstGeom>
          <a:ln w="635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42B44D40-AB03-1D75-7DCF-92EB2F48F353}"/>
              </a:ext>
            </a:extLst>
          </p:cNvPr>
          <p:cNvCxnSpPr/>
          <p:nvPr/>
        </p:nvCxnSpPr>
        <p:spPr>
          <a:xfrm flipV="1">
            <a:off x="4984528" y="3905334"/>
            <a:ext cx="1065411" cy="7160"/>
          </a:xfrm>
          <a:prstGeom prst="straightConnector1">
            <a:avLst/>
          </a:prstGeom>
          <a:ln w="635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5270ABC0-CDFC-49DB-C1FB-7867DD30C05C}"/>
              </a:ext>
            </a:extLst>
          </p:cNvPr>
          <p:cNvCxnSpPr>
            <a:cxnSpLocks/>
          </p:cNvCxnSpPr>
          <p:nvPr/>
        </p:nvCxnSpPr>
        <p:spPr>
          <a:xfrm flipV="1">
            <a:off x="6572709" y="2881223"/>
            <a:ext cx="0" cy="547777"/>
          </a:xfrm>
          <a:prstGeom prst="straightConnector1">
            <a:avLst/>
          </a:prstGeom>
          <a:ln w="635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feld 43">
            <a:extLst>
              <a:ext uri="{FF2B5EF4-FFF2-40B4-BE49-F238E27FC236}">
                <a16:creationId xmlns:a16="http://schemas.microsoft.com/office/drawing/2014/main" id="{E08CEE21-C37B-D4B4-BAF8-9A9C464D6406}"/>
              </a:ext>
            </a:extLst>
          </p:cNvPr>
          <p:cNvSpPr txBox="1"/>
          <p:nvPr/>
        </p:nvSpPr>
        <p:spPr>
          <a:xfrm>
            <a:off x="3104497" y="3573017"/>
            <a:ext cx="835485" cy="646331"/>
          </a:xfrm>
          <a:prstGeom prst="rect">
            <a:avLst/>
          </a:prstGeom>
          <a:noFill/>
          <a:ln w="6350"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de-DE" sz="1200" dirty="0" err="1"/>
              <a:t>request</a:t>
            </a:r>
            <a:endParaRPr lang="de-DE" sz="1200" dirty="0"/>
          </a:p>
          <a:p>
            <a:endParaRPr lang="de-DE" sz="1200" dirty="0"/>
          </a:p>
          <a:p>
            <a:r>
              <a:rPr lang="de-DE" sz="1200" dirty="0" err="1"/>
              <a:t>signed</a:t>
            </a:r>
            <a:r>
              <a:rPr lang="de-DE" sz="1200" dirty="0"/>
              <a:t> </a:t>
            </a:r>
            <a:r>
              <a:rPr lang="de-DE" sz="1200" dirty="0" err="1"/>
              <a:t>url</a:t>
            </a:r>
            <a:endParaRPr lang="de-CH" sz="1200" dirty="0"/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2AB3D54B-D056-A8AD-451E-A17ED6FE7574}"/>
              </a:ext>
            </a:extLst>
          </p:cNvPr>
          <p:cNvSpPr txBox="1"/>
          <p:nvPr/>
        </p:nvSpPr>
        <p:spPr>
          <a:xfrm>
            <a:off x="5151214" y="3558429"/>
            <a:ext cx="8354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 err="1"/>
              <a:t>generate</a:t>
            </a:r>
            <a:endParaRPr lang="de-DE" sz="1200" dirty="0"/>
          </a:p>
          <a:p>
            <a:endParaRPr lang="de-DE" sz="1200" dirty="0"/>
          </a:p>
          <a:p>
            <a:r>
              <a:rPr lang="de-DE" sz="1200" dirty="0" err="1"/>
              <a:t>signed</a:t>
            </a:r>
            <a:r>
              <a:rPr lang="de-DE" sz="1200" dirty="0"/>
              <a:t> </a:t>
            </a:r>
            <a:r>
              <a:rPr lang="de-DE" sz="1200" dirty="0" err="1"/>
              <a:t>url</a:t>
            </a:r>
            <a:endParaRPr lang="de-CH" sz="1200" dirty="0"/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FD0C4435-1025-B558-B67B-07920FF1D1E0}"/>
              </a:ext>
            </a:extLst>
          </p:cNvPr>
          <p:cNvSpPr txBox="1"/>
          <p:nvPr/>
        </p:nvSpPr>
        <p:spPr>
          <a:xfrm>
            <a:off x="6582234" y="2978467"/>
            <a:ext cx="14725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 err="1"/>
              <a:t>provide</a:t>
            </a:r>
            <a:r>
              <a:rPr lang="de-DE" sz="1200" dirty="0"/>
              <a:t> </a:t>
            </a:r>
            <a:r>
              <a:rPr lang="de-DE" sz="1200" dirty="0" err="1"/>
              <a:t>access</a:t>
            </a:r>
            <a:r>
              <a:rPr lang="de-DE" sz="1200" dirty="0"/>
              <a:t> </a:t>
            </a:r>
            <a:r>
              <a:rPr lang="de-DE" sz="1200" dirty="0" err="1"/>
              <a:t>role</a:t>
            </a:r>
            <a:endParaRPr lang="de-DE" sz="1200" dirty="0"/>
          </a:p>
        </p:txBody>
      </p:sp>
      <p:cxnSp>
        <p:nvCxnSpPr>
          <p:cNvPr id="59" name="Verbinder: gewinkelt 58">
            <a:extLst>
              <a:ext uri="{FF2B5EF4-FFF2-40B4-BE49-F238E27FC236}">
                <a16:creationId xmlns:a16="http://schemas.microsoft.com/office/drawing/2014/main" id="{5E3C1FF9-C92F-18E4-0DB8-3996B0DCF24B}"/>
              </a:ext>
            </a:extLst>
          </p:cNvPr>
          <p:cNvCxnSpPr>
            <a:stCxn id="65" idx="2"/>
            <a:endCxn id="15" idx="2"/>
          </p:cNvCxnSpPr>
          <p:nvPr/>
        </p:nvCxnSpPr>
        <p:spPr>
          <a:xfrm rot="16200000" flipH="1">
            <a:off x="5427453" y="1552579"/>
            <a:ext cx="227533" cy="6263845"/>
          </a:xfrm>
          <a:prstGeom prst="bentConnector3">
            <a:avLst>
              <a:gd name="adj1" fmla="val 367285"/>
            </a:avLst>
          </a:prstGeom>
          <a:ln w="635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5640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4">
            <a:extLst>
              <a:ext uri="{FF2B5EF4-FFF2-40B4-BE49-F238E27FC236}">
                <a16:creationId xmlns:a16="http://schemas.microsoft.com/office/drawing/2014/main" id="{302A5B0E-ABA9-48CD-84D0-B78867AD79EC}"/>
              </a:ext>
            </a:extLst>
          </p:cNvPr>
          <p:cNvSpPr/>
          <p:nvPr/>
        </p:nvSpPr>
        <p:spPr>
          <a:xfrm>
            <a:off x="1335573" y="1110123"/>
            <a:ext cx="9322902" cy="5081127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Graphic 55" descr="AWS Cloud group icon with AWS logo.">
            <a:extLst>
              <a:ext uri="{FF2B5EF4-FFF2-40B4-BE49-F238E27FC236}">
                <a16:creationId xmlns:a16="http://schemas.microsoft.com/office/drawing/2014/main" id="{8AB2D835-9413-49FA-ACE8-763B2FFE23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335573" y="1110123"/>
            <a:ext cx="710227" cy="710227"/>
          </a:xfrm>
          <a:prstGeom prst="rect">
            <a:avLst/>
          </a:prstGeom>
        </p:spPr>
      </p:pic>
      <p:grpSp>
        <p:nvGrpSpPr>
          <p:cNvPr id="68" name="Gruppieren 67">
            <a:extLst>
              <a:ext uri="{FF2B5EF4-FFF2-40B4-BE49-F238E27FC236}">
                <a16:creationId xmlns:a16="http://schemas.microsoft.com/office/drawing/2014/main" id="{03BF5E27-302A-8647-A52E-50CE5A653DF6}"/>
              </a:ext>
            </a:extLst>
          </p:cNvPr>
          <p:cNvGrpSpPr/>
          <p:nvPr/>
        </p:nvGrpSpPr>
        <p:grpSpPr>
          <a:xfrm>
            <a:off x="5828081" y="3056498"/>
            <a:ext cx="1585787" cy="2310257"/>
            <a:chOff x="5357286" y="1429893"/>
            <a:chExt cx="1585787" cy="2310257"/>
          </a:xfrm>
        </p:grpSpPr>
        <p:grpSp>
          <p:nvGrpSpPr>
            <p:cNvPr id="42" name="Gruppieren 41">
              <a:extLst>
                <a:ext uri="{FF2B5EF4-FFF2-40B4-BE49-F238E27FC236}">
                  <a16:creationId xmlns:a16="http://schemas.microsoft.com/office/drawing/2014/main" id="{D8C7162D-80CD-E34C-17F7-D24EDF3CD37D}"/>
                </a:ext>
              </a:extLst>
            </p:cNvPr>
            <p:cNvGrpSpPr/>
            <p:nvPr/>
          </p:nvGrpSpPr>
          <p:grpSpPr>
            <a:xfrm>
              <a:off x="5517006" y="2001139"/>
              <a:ext cx="1266346" cy="590338"/>
              <a:chOff x="5425214" y="1724849"/>
              <a:chExt cx="1266346" cy="590338"/>
            </a:xfrm>
          </p:grpSpPr>
          <p:pic>
            <p:nvPicPr>
              <p:cNvPr id="11" name="Graphic 13" descr="Lambda function resource icon for the AWS Lambda service icon.">
                <a:extLst>
                  <a:ext uri="{FF2B5EF4-FFF2-40B4-BE49-F238E27FC236}">
                    <a16:creationId xmlns:a16="http://schemas.microsoft.com/office/drawing/2014/main" id="{E2B9011C-C7EB-AD4B-85D7-DC979571C75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/>
              <a:stretch/>
            </p:blipFill>
            <p:spPr bwMode="auto">
              <a:xfrm>
                <a:off x="5920149" y="1724849"/>
                <a:ext cx="341094" cy="3410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" name="TextBox 17">
                <a:extLst>
                  <a:ext uri="{FF2B5EF4-FFF2-40B4-BE49-F238E27FC236}">
                    <a16:creationId xmlns:a16="http://schemas.microsoft.com/office/drawing/2014/main" id="{70E93A9B-B3E0-D24E-9DFE-BE9C66CA383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425214" y="2099743"/>
                <a:ext cx="1266346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5pPr>
                <a:lvl6pPr marL="25146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6pPr>
                <a:lvl7pPr marL="29718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7pPr>
                <a:lvl8pPr marL="34290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8pPr>
                <a:lvl9pPr marL="38862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9pPr>
              </a:lstStyle>
              <a:p>
                <a:pPr algn="ctr" eaLnBrk="1" hangingPunct="1"/>
                <a:r>
                  <a:rPr lang="en-US" altLang="en-US" sz="800" dirty="0" err="1"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DownloadUrlLambda</a:t>
                </a:r>
                <a:endParaRPr lang="en-US" altLang="en-US" sz="8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3" name="Gruppieren 42">
              <a:extLst>
                <a:ext uri="{FF2B5EF4-FFF2-40B4-BE49-F238E27FC236}">
                  <a16:creationId xmlns:a16="http://schemas.microsoft.com/office/drawing/2014/main" id="{6BBCCC16-F938-779D-52F0-FFF84978E2F0}"/>
                </a:ext>
              </a:extLst>
            </p:cNvPr>
            <p:cNvGrpSpPr/>
            <p:nvPr/>
          </p:nvGrpSpPr>
          <p:grpSpPr>
            <a:xfrm>
              <a:off x="5632464" y="2840019"/>
              <a:ext cx="1150888" cy="585626"/>
              <a:chOff x="5540672" y="2480743"/>
              <a:chExt cx="1150888" cy="585626"/>
            </a:xfrm>
          </p:grpSpPr>
          <p:pic>
            <p:nvPicPr>
              <p:cNvPr id="13" name="Graphic 13" descr="Lambda function resource icon for the AWS Lambda service icon.">
                <a:extLst>
                  <a:ext uri="{FF2B5EF4-FFF2-40B4-BE49-F238E27FC236}">
                    <a16:creationId xmlns:a16="http://schemas.microsoft.com/office/drawing/2014/main" id="{E2B9011C-C7EB-AD4B-85D7-DC979571C75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/>
              <a:stretch/>
            </p:blipFill>
            <p:spPr bwMode="auto">
              <a:xfrm>
                <a:off x="5878001" y="2480743"/>
                <a:ext cx="356788" cy="3408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" name="TextBox 17">
                <a:extLst>
                  <a:ext uri="{FF2B5EF4-FFF2-40B4-BE49-F238E27FC236}">
                    <a16:creationId xmlns:a16="http://schemas.microsoft.com/office/drawing/2014/main" id="{70E93A9B-B3E0-D24E-9DFE-BE9C66CA383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40672" y="2850925"/>
                <a:ext cx="1150888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5pPr>
                <a:lvl6pPr marL="25146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6pPr>
                <a:lvl7pPr marL="29718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7pPr>
                <a:lvl8pPr marL="34290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8pPr>
                <a:lvl9pPr marL="38862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9pPr>
              </a:lstStyle>
              <a:p>
                <a:pPr algn="ctr" eaLnBrk="1" hangingPunct="1"/>
                <a:r>
                  <a:rPr lang="en-US" altLang="en-US" sz="800" dirty="0" err="1"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UploadUrlLambda</a:t>
                </a:r>
                <a:endParaRPr lang="en-US" altLang="en-US" sz="8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5" name="Rectangle 58">
              <a:extLst>
                <a:ext uri="{FF2B5EF4-FFF2-40B4-BE49-F238E27FC236}">
                  <a16:creationId xmlns:a16="http://schemas.microsoft.com/office/drawing/2014/main" id="{C9AA1048-CF2C-46E7-882C-FF264E8E2FDF}"/>
                </a:ext>
              </a:extLst>
            </p:cNvPr>
            <p:cNvSpPr/>
            <p:nvPr/>
          </p:nvSpPr>
          <p:spPr>
            <a:xfrm>
              <a:off x="5357286" y="1429894"/>
              <a:ext cx="1585787" cy="2310256"/>
            </a:xfrm>
            <a:prstGeom prst="rect">
              <a:avLst/>
            </a:prstGeom>
            <a:noFill/>
            <a:ln w="15875">
              <a:solidFill>
                <a:srgbClr val="ED71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2920" tIns="91440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AWS Lambda</a:t>
              </a:r>
            </a:p>
          </p:txBody>
        </p:sp>
        <p:pic>
          <p:nvPicPr>
            <p:cNvPr id="26" name="Graphic 59">
              <a:extLst>
                <a:ext uri="{FF2B5EF4-FFF2-40B4-BE49-F238E27FC236}">
                  <a16:creationId xmlns:a16="http://schemas.microsoft.com/office/drawing/2014/main" id="{51A959D2-E651-4944-AFC6-2AA3FB55538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5357286" y="1429893"/>
              <a:ext cx="381000" cy="381000"/>
            </a:xfrm>
            <a:prstGeom prst="rect">
              <a:avLst/>
            </a:prstGeom>
          </p:spPr>
        </p:pic>
      </p:grpSp>
      <p:grpSp>
        <p:nvGrpSpPr>
          <p:cNvPr id="67" name="Gruppieren 66">
            <a:extLst>
              <a:ext uri="{FF2B5EF4-FFF2-40B4-BE49-F238E27FC236}">
                <a16:creationId xmlns:a16="http://schemas.microsoft.com/office/drawing/2014/main" id="{7ED0412B-199F-769B-B868-71166D0E257E}"/>
              </a:ext>
            </a:extLst>
          </p:cNvPr>
          <p:cNvGrpSpPr/>
          <p:nvPr/>
        </p:nvGrpSpPr>
        <p:grpSpPr>
          <a:xfrm>
            <a:off x="8026375" y="3651980"/>
            <a:ext cx="2010189" cy="1410309"/>
            <a:chOff x="7610179" y="1216809"/>
            <a:chExt cx="2010189" cy="1410309"/>
          </a:xfrm>
        </p:grpSpPr>
        <p:grpSp>
          <p:nvGrpSpPr>
            <p:cNvPr id="36" name="Gruppieren 35">
              <a:extLst>
                <a:ext uri="{FF2B5EF4-FFF2-40B4-BE49-F238E27FC236}">
                  <a16:creationId xmlns:a16="http://schemas.microsoft.com/office/drawing/2014/main" id="{42EC17D5-40A9-B4CF-BF4E-55034C8A58CA}"/>
                </a:ext>
              </a:extLst>
            </p:cNvPr>
            <p:cNvGrpSpPr/>
            <p:nvPr/>
          </p:nvGrpSpPr>
          <p:grpSpPr>
            <a:xfrm>
              <a:off x="8109469" y="1678318"/>
              <a:ext cx="1097988" cy="702394"/>
              <a:chOff x="8040132" y="1841129"/>
              <a:chExt cx="1097988" cy="702394"/>
            </a:xfrm>
          </p:grpSpPr>
          <p:pic>
            <p:nvPicPr>
              <p:cNvPr id="7" name="Graphic 68" descr="S3 Standard storage class icon for the Amazon S3 service.">
                <a:extLst>
                  <a:ext uri="{FF2B5EF4-FFF2-40B4-BE49-F238E27FC236}">
                    <a16:creationId xmlns:a16="http://schemas.microsoft.com/office/drawing/2014/main" id="{39EDE038-C9C0-EB22-E35E-6965EE42D3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8407599" y="1841129"/>
                <a:ext cx="363054" cy="363054"/>
              </a:xfrm>
              <a:prstGeom prst="rect">
                <a:avLst/>
              </a:prstGeom>
            </p:spPr>
          </p:pic>
          <p:sp>
            <p:nvSpPr>
              <p:cNvPr id="8" name="TextBox 62">
                <a:extLst>
                  <a:ext uri="{FF2B5EF4-FFF2-40B4-BE49-F238E27FC236}">
                    <a16:creationId xmlns:a16="http://schemas.microsoft.com/office/drawing/2014/main" id="{F5C81401-1C97-664A-94C5-7F532AC20E9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040132" y="2204969"/>
                <a:ext cx="1097988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5pPr>
                <a:lvl6pPr marL="25146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6pPr>
                <a:lvl7pPr marL="29718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7pPr>
                <a:lvl8pPr marL="34290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8pPr>
                <a:lvl9pPr marL="38862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9pPr>
              </a:lstStyle>
              <a:p>
                <a:pPr algn="ctr" eaLnBrk="1" hangingPunct="1"/>
                <a:r>
                  <a:rPr lang="en-US" altLang="en-US" sz="800" dirty="0"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fracsysmodels202511272A7D2AFF</a:t>
                </a:r>
              </a:p>
            </p:txBody>
          </p:sp>
        </p:grpSp>
        <p:sp>
          <p:nvSpPr>
            <p:cNvPr id="32" name="Rectangle 51">
              <a:extLst>
                <a:ext uri="{FF2B5EF4-FFF2-40B4-BE49-F238E27FC236}">
                  <a16:creationId xmlns:a16="http://schemas.microsoft.com/office/drawing/2014/main" id="{A5ECAF0F-9EF6-4F44-9832-1804DF7E3C38}"/>
                </a:ext>
              </a:extLst>
            </p:cNvPr>
            <p:cNvSpPr/>
            <p:nvPr/>
          </p:nvSpPr>
          <p:spPr>
            <a:xfrm>
              <a:off x="7610179" y="1218382"/>
              <a:ext cx="2010189" cy="1408736"/>
            </a:xfrm>
            <a:prstGeom prst="rect">
              <a:avLst/>
            </a:prstGeom>
            <a:noFill/>
            <a:ln w="15875">
              <a:solidFill>
                <a:srgbClr val="7AA11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2920" tIns="91440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80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AWS Simple Storage Service</a:t>
              </a:r>
            </a:p>
          </p:txBody>
        </p:sp>
        <p:pic>
          <p:nvPicPr>
            <p:cNvPr id="33" name="Graphic 52">
              <a:extLst>
                <a:ext uri="{FF2B5EF4-FFF2-40B4-BE49-F238E27FC236}">
                  <a16:creationId xmlns:a16="http://schemas.microsoft.com/office/drawing/2014/main" id="{2A6118A8-FD5B-44FA-A2F8-8F65033D6E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/>
          </p:blipFill>
          <p:spPr>
            <a:xfrm>
              <a:off x="7610179" y="1216809"/>
              <a:ext cx="381000" cy="381000"/>
            </a:xfrm>
            <a:prstGeom prst="rect">
              <a:avLst/>
            </a:prstGeom>
          </p:spPr>
        </p:pic>
      </p:grpSp>
      <p:grpSp>
        <p:nvGrpSpPr>
          <p:cNvPr id="61" name="Gruppieren 60">
            <a:extLst>
              <a:ext uri="{FF2B5EF4-FFF2-40B4-BE49-F238E27FC236}">
                <a16:creationId xmlns:a16="http://schemas.microsoft.com/office/drawing/2014/main" id="{B890A991-6237-AB72-8C95-B90DDA1F0A14}"/>
              </a:ext>
            </a:extLst>
          </p:cNvPr>
          <p:cNvGrpSpPr/>
          <p:nvPr/>
        </p:nvGrpSpPr>
        <p:grpSpPr>
          <a:xfrm>
            <a:off x="5398166" y="1543315"/>
            <a:ext cx="2441631" cy="1040114"/>
            <a:chOff x="4476750" y="595995"/>
            <a:chExt cx="2441631" cy="1040114"/>
          </a:xfrm>
        </p:grpSpPr>
        <p:grpSp>
          <p:nvGrpSpPr>
            <p:cNvPr id="41" name="Gruppieren 40">
              <a:extLst>
                <a:ext uri="{FF2B5EF4-FFF2-40B4-BE49-F238E27FC236}">
                  <a16:creationId xmlns:a16="http://schemas.microsoft.com/office/drawing/2014/main" id="{01C02EA5-E3D5-81A1-2314-385AE1BF554A}"/>
                </a:ext>
              </a:extLst>
            </p:cNvPr>
            <p:cNvGrpSpPr/>
            <p:nvPr/>
          </p:nvGrpSpPr>
          <p:grpSpPr>
            <a:xfrm>
              <a:off x="4609856" y="935336"/>
              <a:ext cx="1193023" cy="616862"/>
              <a:chOff x="3453540" y="4723571"/>
              <a:chExt cx="1193023" cy="616862"/>
            </a:xfrm>
          </p:grpSpPr>
          <p:pic>
            <p:nvPicPr>
              <p:cNvPr id="21" name="Graphic 72" descr="Role resource icon for the IAM service.">
                <a:extLst>
                  <a:ext uri="{FF2B5EF4-FFF2-40B4-BE49-F238E27FC236}">
                    <a16:creationId xmlns:a16="http://schemas.microsoft.com/office/drawing/2014/main" id="{26677775-3154-4096-8694-4B7358F3D1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3874432" y="4723571"/>
                <a:ext cx="351241" cy="351241"/>
              </a:xfrm>
              <a:prstGeom prst="rect">
                <a:avLst/>
              </a:prstGeom>
            </p:spPr>
          </p:pic>
          <p:sp>
            <p:nvSpPr>
              <p:cNvPr id="22" name="TextBox 29">
                <a:extLst>
                  <a:ext uri="{FF2B5EF4-FFF2-40B4-BE49-F238E27FC236}">
                    <a16:creationId xmlns:a16="http://schemas.microsoft.com/office/drawing/2014/main" id="{0F02AB39-166A-4382-8A27-57908748AFE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53540" y="5001879"/>
                <a:ext cx="1193023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5pPr>
                <a:lvl6pPr marL="25146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6pPr>
                <a:lvl7pPr marL="29718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7pPr>
                <a:lvl8pPr marL="34290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8pPr>
                <a:lvl9pPr marL="38862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9pPr>
              </a:lstStyle>
              <a:p>
                <a:pPr algn="ctr" eaLnBrk="1" hangingPunct="1"/>
                <a:r>
                  <a:rPr lang="en-US" altLang="en-US" sz="800" dirty="0" err="1"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DownloadUrlLambdaServiceRole</a:t>
                </a:r>
                <a:endParaRPr lang="en-US" altLang="en-US" sz="8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8" name="Rectangle 62">
              <a:extLst>
                <a:ext uri="{FF2B5EF4-FFF2-40B4-BE49-F238E27FC236}">
                  <a16:creationId xmlns:a16="http://schemas.microsoft.com/office/drawing/2014/main" id="{08FA695D-70A0-4F41-8C21-E437C7B3DF77}"/>
                </a:ext>
              </a:extLst>
            </p:cNvPr>
            <p:cNvSpPr/>
            <p:nvPr/>
          </p:nvSpPr>
          <p:spPr>
            <a:xfrm>
              <a:off x="4476750" y="595996"/>
              <a:ext cx="2441631" cy="1040113"/>
            </a:xfrm>
            <a:prstGeom prst="rect">
              <a:avLst/>
            </a:prstGeom>
            <a:noFill/>
            <a:ln w="15875">
              <a:solidFill>
                <a:srgbClr val="DD344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2920" tIns="91440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AWS IAM Identity Center</a:t>
              </a:r>
            </a:p>
          </p:txBody>
        </p:sp>
        <p:pic>
          <p:nvPicPr>
            <p:cNvPr id="39" name="Graphic 63">
              <a:extLst>
                <a:ext uri="{FF2B5EF4-FFF2-40B4-BE49-F238E27FC236}">
                  <a16:creationId xmlns:a16="http://schemas.microsoft.com/office/drawing/2014/main" id="{DA91B879-1EA9-4070-9829-D532FB7C587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476750" y="595995"/>
              <a:ext cx="381000" cy="381000"/>
            </a:xfrm>
            <a:prstGeom prst="rect">
              <a:avLst/>
            </a:prstGeom>
          </p:spPr>
        </p:pic>
        <p:grpSp>
          <p:nvGrpSpPr>
            <p:cNvPr id="45" name="Gruppieren 44">
              <a:extLst>
                <a:ext uri="{FF2B5EF4-FFF2-40B4-BE49-F238E27FC236}">
                  <a16:creationId xmlns:a16="http://schemas.microsoft.com/office/drawing/2014/main" id="{5B9BD941-FB5E-E6CF-B177-B629323F1CDD}"/>
                </a:ext>
              </a:extLst>
            </p:cNvPr>
            <p:cNvGrpSpPr/>
            <p:nvPr/>
          </p:nvGrpSpPr>
          <p:grpSpPr>
            <a:xfrm>
              <a:off x="5643526" y="943427"/>
              <a:ext cx="1049776" cy="615553"/>
              <a:chOff x="3515874" y="4723571"/>
              <a:chExt cx="1049776" cy="615553"/>
            </a:xfrm>
          </p:grpSpPr>
          <p:pic>
            <p:nvPicPr>
              <p:cNvPr id="46" name="Graphic 72" descr="Role resource icon for the IAM service.">
                <a:extLst>
                  <a:ext uri="{FF2B5EF4-FFF2-40B4-BE49-F238E27FC236}">
                    <a16:creationId xmlns:a16="http://schemas.microsoft.com/office/drawing/2014/main" id="{F141BCE7-678C-12BD-1C4F-44B955D134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3874432" y="4723571"/>
                <a:ext cx="351241" cy="351241"/>
              </a:xfrm>
              <a:prstGeom prst="rect">
                <a:avLst/>
              </a:prstGeom>
            </p:spPr>
          </p:pic>
          <p:sp>
            <p:nvSpPr>
              <p:cNvPr id="47" name="TextBox 29">
                <a:extLst>
                  <a:ext uri="{FF2B5EF4-FFF2-40B4-BE49-F238E27FC236}">
                    <a16:creationId xmlns:a16="http://schemas.microsoft.com/office/drawing/2014/main" id="{08E4E134-0D52-72C9-AE76-C4C6BCA5C49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15874" y="5000570"/>
                <a:ext cx="1049776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5pPr>
                <a:lvl6pPr marL="25146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6pPr>
                <a:lvl7pPr marL="29718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7pPr>
                <a:lvl8pPr marL="34290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8pPr>
                <a:lvl9pPr marL="38862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9pPr>
              </a:lstStyle>
              <a:p>
                <a:pPr algn="ctr" eaLnBrk="1" hangingPunct="1"/>
                <a:r>
                  <a:rPr lang="en-US" altLang="en-US" sz="800" dirty="0" err="1"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UploadUrlLambdaServiceRole</a:t>
                </a:r>
                <a:endParaRPr lang="en-US" altLang="en-US" sz="8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69" name="Gruppieren 68">
            <a:extLst>
              <a:ext uri="{FF2B5EF4-FFF2-40B4-BE49-F238E27FC236}">
                <a16:creationId xmlns:a16="http://schemas.microsoft.com/office/drawing/2014/main" id="{06E78194-A6E8-616C-F3C6-3405DB4DC12A}"/>
              </a:ext>
            </a:extLst>
          </p:cNvPr>
          <p:cNvGrpSpPr/>
          <p:nvPr/>
        </p:nvGrpSpPr>
        <p:grpSpPr>
          <a:xfrm>
            <a:off x="3313721" y="3056498"/>
            <a:ext cx="1710793" cy="2357786"/>
            <a:chOff x="2436272" y="1636364"/>
            <a:chExt cx="1710793" cy="2357786"/>
          </a:xfrm>
        </p:grpSpPr>
        <p:grpSp>
          <p:nvGrpSpPr>
            <p:cNvPr id="55" name="Gruppieren 54">
              <a:extLst>
                <a:ext uri="{FF2B5EF4-FFF2-40B4-BE49-F238E27FC236}">
                  <a16:creationId xmlns:a16="http://schemas.microsoft.com/office/drawing/2014/main" id="{085E19BD-F576-6D6C-756E-507EB77A3044}"/>
                </a:ext>
              </a:extLst>
            </p:cNvPr>
            <p:cNvGrpSpPr/>
            <p:nvPr/>
          </p:nvGrpSpPr>
          <p:grpSpPr>
            <a:xfrm>
              <a:off x="2581589" y="2319288"/>
              <a:ext cx="1468727" cy="562332"/>
              <a:chOff x="4782790" y="4213783"/>
              <a:chExt cx="1468727" cy="562332"/>
            </a:xfrm>
          </p:grpSpPr>
          <p:pic>
            <p:nvPicPr>
              <p:cNvPr id="49" name="Graphic 6" descr="Endpoint resource icon for the Amazon API Gateway service.">
                <a:extLst>
                  <a:ext uri="{FF2B5EF4-FFF2-40B4-BE49-F238E27FC236}">
                    <a16:creationId xmlns:a16="http://schemas.microsoft.com/office/drawing/2014/main" id="{F92D9986-7B3C-1D36-7A72-7931B3A866D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rcRect/>
              <a:stretch/>
            </p:blipFill>
            <p:spPr bwMode="auto">
              <a:xfrm>
                <a:off x="5296638" y="4213783"/>
                <a:ext cx="346888" cy="346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0" name="TextBox 16">
                <a:extLst>
                  <a:ext uri="{FF2B5EF4-FFF2-40B4-BE49-F238E27FC236}">
                    <a16:creationId xmlns:a16="http://schemas.microsoft.com/office/drawing/2014/main" id="{F603B198-0FFA-EC92-B075-DDD1EE7239D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82790" y="4560671"/>
                <a:ext cx="1468727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5pPr>
                <a:lvl6pPr marL="25146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6pPr>
                <a:lvl7pPr marL="29718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7pPr>
                <a:lvl8pPr marL="34290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8pPr>
                <a:lvl9pPr marL="38862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9pPr>
              </a:lstStyle>
              <a:p>
                <a:pPr algn="ctr" eaLnBrk="1" hangingPunct="1"/>
                <a:r>
                  <a:rPr lang="en-US" altLang="en-US" sz="800" dirty="0"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/download-</a:t>
                </a:r>
                <a:r>
                  <a:rPr lang="en-US" altLang="en-US" sz="800" dirty="0" err="1"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url</a:t>
                </a:r>
                <a:r>
                  <a:rPr lang="en-US" altLang="en-US" sz="800" dirty="0"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 (GET)</a:t>
                </a:r>
              </a:p>
            </p:txBody>
          </p:sp>
        </p:grpSp>
        <p:sp>
          <p:nvSpPr>
            <p:cNvPr id="53" name="Rectangle 45">
              <a:extLst>
                <a:ext uri="{FF2B5EF4-FFF2-40B4-BE49-F238E27FC236}">
                  <a16:creationId xmlns:a16="http://schemas.microsoft.com/office/drawing/2014/main" id="{B06EE950-A146-43EF-8026-F342D8B43F45}"/>
                </a:ext>
              </a:extLst>
            </p:cNvPr>
            <p:cNvSpPr/>
            <p:nvPr/>
          </p:nvSpPr>
          <p:spPr>
            <a:xfrm>
              <a:off x="2436273" y="1639222"/>
              <a:ext cx="1710792" cy="2354928"/>
            </a:xfrm>
            <a:prstGeom prst="rect">
              <a:avLst/>
            </a:prstGeom>
            <a:noFill/>
            <a:ln w="15875">
              <a:solidFill>
                <a:srgbClr val="8C4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2920" tIns="91440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Amazon API Gateway</a:t>
              </a: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S3SignedUrlApi</a:t>
              </a:r>
            </a:p>
          </p:txBody>
        </p:sp>
        <p:pic>
          <p:nvPicPr>
            <p:cNvPr id="54" name="Graphic 46">
              <a:extLst>
                <a:ext uri="{FF2B5EF4-FFF2-40B4-BE49-F238E27FC236}">
                  <a16:creationId xmlns:a16="http://schemas.microsoft.com/office/drawing/2014/main" id="{D91574DE-03DE-4251-8D1B-D51252BEA3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/>
          </p:blipFill>
          <p:spPr>
            <a:xfrm>
              <a:off x="2436272" y="1636364"/>
              <a:ext cx="381000" cy="381000"/>
            </a:xfrm>
            <a:prstGeom prst="rect">
              <a:avLst/>
            </a:prstGeom>
          </p:spPr>
        </p:pic>
        <p:grpSp>
          <p:nvGrpSpPr>
            <p:cNvPr id="56" name="Gruppieren 55">
              <a:extLst>
                <a:ext uri="{FF2B5EF4-FFF2-40B4-BE49-F238E27FC236}">
                  <a16:creationId xmlns:a16="http://schemas.microsoft.com/office/drawing/2014/main" id="{16210BF4-368B-2FB7-7DB1-78425F45A20B}"/>
                </a:ext>
              </a:extLst>
            </p:cNvPr>
            <p:cNvGrpSpPr/>
            <p:nvPr/>
          </p:nvGrpSpPr>
          <p:grpSpPr>
            <a:xfrm>
              <a:off x="2557305" y="3142960"/>
              <a:ext cx="1468727" cy="562332"/>
              <a:chOff x="4782790" y="4213783"/>
              <a:chExt cx="1468727" cy="562332"/>
            </a:xfrm>
          </p:grpSpPr>
          <p:pic>
            <p:nvPicPr>
              <p:cNvPr id="57" name="Graphic 6" descr="Endpoint resource icon for the Amazon API Gateway service.">
                <a:extLst>
                  <a:ext uri="{FF2B5EF4-FFF2-40B4-BE49-F238E27FC236}">
                    <a16:creationId xmlns:a16="http://schemas.microsoft.com/office/drawing/2014/main" id="{B3850080-A3D3-C83F-3D29-2CFA2E679A0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rcRect/>
              <a:stretch/>
            </p:blipFill>
            <p:spPr bwMode="auto">
              <a:xfrm>
                <a:off x="5296638" y="4213783"/>
                <a:ext cx="346888" cy="346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8" name="TextBox 16">
                <a:extLst>
                  <a:ext uri="{FF2B5EF4-FFF2-40B4-BE49-F238E27FC236}">
                    <a16:creationId xmlns:a16="http://schemas.microsoft.com/office/drawing/2014/main" id="{3DF64272-ADE9-3B8B-968B-B92950755B1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82790" y="4560671"/>
                <a:ext cx="1468727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5pPr>
                <a:lvl6pPr marL="25146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6pPr>
                <a:lvl7pPr marL="29718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7pPr>
                <a:lvl8pPr marL="34290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8pPr>
                <a:lvl9pPr marL="38862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9pPr>
              </a:lstStyle>
              <a:p>
                <a:pPr algn="ctr" eaLnBrk="1" hangingPunct="1"/>
                <a:r>
                  <a:rPr lang="en-US" altLang="en-US" sz="800" dirty="0"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/upload-</a:t>
                </a:r>
                <a:r>
                  <a:rPr lang="en-US" altLang="en-US" sz="800" dirty="0" err="1"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url</a:t>
                </a:r>
                <a:r>
                  <a:rPr lang="en-US" altLang="en-US" sz="800" dirty="0"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 (GET)</a:t>
                </a:r>
              </a:p>
            </p:txBody>
          </p:sp>
        </p:grpSp>
      </p:grpSp>
      <p:pic>
        <p:nvPicPr>
          <p:cNvPr id="62" name="Graphic 22" descr="User resource icon for the General Icons category.">
            <a:extLst>
              <a:ext uri="{FF2B5EF4-FFF2-40B4-BE49-F238E27FC236}">
                <a16:creationId xmlns:a16="http://schemas.microsoft.com/office/drawing/2014/main" id="{D3FCDB7F-683E-4484-95A8-98DE76742D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/>
        </p:blipFill>
        <p:spPr bwMode="auto">
          <a:xfrm>
            <a:off x="1557825" y="3979789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3" name="TextBox 39">
            <a:extLst>
              <a:ext uri="{FF2B5EF4-FFF2-40B4-BE49-F238E27FC236}">
                <a16:creationId xmlns:a16="http://schemas.microsoft.com/office/drawing/2014/main" id="{4DE1AC13-586D-4D66-AE44-D6FE654D48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1741" y="4515564"/>
            <a:ext cx="1073150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cs typeface="Arial" panose="020B0604020202020204" pitchFamily="34" charset="0"/>
              </a:rPr>
              <a:t>User</a:t>
            </a:r>
          </a:p>
        </p:txBody>
      </p:sp>
      <p:pic>
        <p:nvPicPr>
          <p:cNvPr id="64" name="Graphic 68" descr="Client resource icon for the General Icons category.">
            <a:extLst>
              <a:ext uri="{FF2B5EF4-FFF2-40B4-BE49-F238E27FC236}">
                <a16:creationId xmlns:a16="http://schemas.microsoft.com/office/drawing/2014/main" id="{B409BAE7-B594-48DE-A515-288D23E675D4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146562" y="3986949"/>
            <a:ext cx="457200" cy="457200"/>
          </a:xfrm>
          <a:prstGeom prst="rect">
            <a:avLst/>
          </a:prstGeom>
        </p:spPr>
      </p:pic>
      <p:sp>
        <p:nvSpPr>
          <p:cNvPr id="65" name="TextBox 25">
            <a:extLst>
              <a:ext uri="{FF2B5EF4-FFF2-40B4-BE49-F238E27FC236}">
                <a16:creationId xmlns:a16="http://schemas.microsoft.com/office/drawing/2014/main" id="{0BA1D6A3-006B-412E-B5D6-B26E826FA4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8587" y="4546878"/>
            <a:ext cx="1073150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cs typeface="Arial" panose="020B0604020202020204" pitchFamily="34" charset="0"/>
              </a:rPr>
              <a:t>Client</a:t>
            </a:r>
          </a:p>
        </p:txBody>
      </p:sp>
      <p:cxnSp>
        <p:nvCxnSpPr>
          <p:cNvPr id="80" name="Verbinder: gewinkelt 79">
            <a:extLst>
              <a:ext uri="{FF2B5EF4-FFF2-40B4-BE49-F238E27FC236}">
                <a16:creationId xmlns:a16="http://schemas.microsoft.com/office/drawing/2014/main" id="{32F3F05F-F99A-AC9D-A2D1-F6A5B3D05507}"/>
              </a:ext>
            </a:extLst>
          </p:cNvPr>
          <p:cNvCxnSpPr>
            <a:cxnSpLocks/>
          </p:cNvCxnSpPr>
          <p:nvPr/>
        </p:nvCxnSpPr>
        <p:spPr>
          <a:xfrm rot="10800000" flipV="1">
            <a:off x="2640662" y="3958988"/>
            <a:ext cx="1210587" cy="204929"/>
          </a:xfrm>
          <a:prstGeom prst="bentConnector3">
            <a:avLst>
              <a:gd name="adj1" fmla="val 50000"/>
            </a:avLst>
          </a:prstGeom>
          <a:ln w="635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Verbinder: gewinkelt 84">
            <a:extLst>
              <a:ext uri="{FF2B5EF4-FFF2-40B4-BE49-F238E27FC236}">
                <a16:creationId xmlns:a16="http://schemas.microsoft.com/office/drawing/2014/main" id="{1097084B-EEC3-CF96-1B01-5357619A3A74}"/>
              </a:ext>
            </a:extLst>
          </p:cNvPr>
          <p:cNvCxnSpPr>
            <a:cxnSpLocks/>
          </p:cNvCxnSpPr>
          <p:nvPr/>
        </p:nvCxnSpPr>
        <p:spPr>
          <a:xfrm>
            <a:off x="2659530" y="4379360"/>
            <a:ext cx="1177826" cy="310268"/>
          </a:xfrm>
          <a:prstGeom prst="bentConnector3">
            <a:avLst>
              <a:gd name="adj1" fmla="val 50000"/>
            </a:avLst>
          </a:prstGeom>
          <a:ln w="635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Gerader Verbinder 90">
            <a:extLst>
              <a:ext uri="{FF2B5EF4-FFF2-40B4-BE49-F238E27FC236}">
                <a16:creationId xmlns:a16="http://schemas.microsoft.com/office/drawing/2014/main" id="{6968F1C1-DBD2-5BA3-2DBB-AEC3A607843E}"/>
              </a:ext>
            </a:extLst>
          </p:cNvPr>
          <p:cNvCxnSpPr/>
          <p:nvPr/>
        </p:nvCxnSpPr>
        <p:spPr>
          <a:xfrm>
            <a:off x="4516619" y="3822988"/>
            <a:ext cx="1799985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5" name="Gerader Verbinder 94">
            <a:extLst>
              <a:ext uri="{FF2B5EF4-FFF2-40B4-BE49-F238E27FC236}">
                <a16:creationId xmlns:a16="http://schemas.microsoft.com/office/drawing/2014/main" id="{ABC6E13C-0B17-AA8F-39B4-EC79741C33A1}"/>
              </a:ext>
            </a:extLst>
          </p:cNvPr>
          <p:cNvCxnSpPr/>
          <p:nvPr/>
        </p:nvCxnSpPr>
        <p:spPr>
          <a:xfrm>
            <a:off x="4516618" y="4663670"/>
            <a:ext cx="1799985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1" name="Verbinder: gewinkelt 100">
            <a:extLst>
              <a:ext uri="{FF2B5EF4-FFF2-40B4-BE49-F238E27FC236}">
                <a16:creationId xmlns:a16="http://schemas.microsoft.com/office/drawing/2014/main" id="{4A259663-A805-E6C4-79DB-11C083EC357B}"/>
              </a:ext>
            </a:extLst>
          </p:cNvPr>
          <p:cNvCxnSpPr>
            <a:cxnSpLocks/>
            <a:stCxn id="21" idx="1"/>
            <a:endCxn id="11" idx="0"/>
          </p:cNvCxnSpPr>
          <p:nvPr/>
        </p:nvCxnSpPr>
        <p:spPr>
          <a:xfrm rot="10800000" flipH="1" flipV="1">
            <a:off x="5952163" y="2058276"/>
            <a:ext cx="701119" cy="1569467"/>
          </a:xfrm>
          <a:prstGeom prst="bentConnector4">
            <a:avLst>
              <a:gd name="adj1" fmla="val -116291"/>
              <a:gd name="adj2" fmla="val 55595"/>
            </a:avLst>
          </a:prstGeom>
          <a:ln w="9525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Verbinder: gewinkelt 104">
            <a:extLst>
              <a:ext uri="{FF2B5EF4-FFF2-40B4-BE49-F238E27FC236}">
                <a16:creationId xmlns:a16="http://schemas.microsoft.com/office/drawing/2014/main" id="{4AAD15DD-CB68-304A-5295-EA8893CC11AD}"/>
              </a:ext>
            </a:extLst>
          </p:cNvPr>
          <p:cNvCxnSpPr>
            <a:cxnSpLocks/>
            <a:stCxn id="46" idx="3"/>
            <a:endCxn id="14" idx="2"/>
          </p:cNvCxnSpPr>
          <p:nvPr/>
        </p:nvCxnSpPr>
        <p:spPr>
          <a:xfrm flipH="1">
            <a:off x="6678703" y="2066368"/>
            <a:ext cx="596038" cy="2985882"/>
          </a:xfrm>
          <a:prstGeom prst="bentConnector4">
            <a:avLst>
              <a:gd name="adj1" fmla="val -62643"/>
              <a:gd name="adj2" fmla="val 107656"/>
            </a:avLst>
          </a:prstGeom>
          <a:ln w="9525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Verbinder: gewinkelt 110">
            <a:extLst>
              <a:ext uri="{FF2B5EF4-FFF2-40B4-BE49-F238E27FC236}">
                <a16:creationId xmlns:a16="http://schemas.microsoft.com/office/drawing/2014/main" id="{413583A2-0F67-BF10-F3D5-EA2255509F8F}"/>
              </a:ext>
            </a:extLst>
          </p:cNvPr>
          <p:cNvCxnSpPr>
            <a:cxnSpLocks/>
            <a:stCxn id="65" idx="2"/>
            <a:endCxn id="8" idx="2"/>
          </p:cNvCxnSpPr>
          <p:nvPr/>
        </p:nvCxnSpPr>
        <p:spPr>
          <a:xfrm rot="16200000" flipH="1">
            <a:off x="5698130" y="1439353"/>
            <a:ext cx="53561" cy="6699497"/>
          </a:xfrm>
          <a:prstGeom prst="bentConnector3">
            <a:avLst>
              <a:gd name="adj1" fmla="val 2006387"/>
            </a:avLst>
          </a:prstGeom>
          <a:ln w="635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Textfeld 121">
            <a:extLst>
              <a:ext uri="{FF2B5EF4-FFF2-40B4-BE49-F238E27FC236}">
                <a16:creationId xmlns:a16="http://schemas.microsoft.com/office/drawing/2014/main" id="{BE22422E-5FDC-0686-1DD5-B9BD7D90EFC9}"/>
              </a:ext>
            </a:extLst>
          </p:cNvPr>
          <p:cNvSpPr txBox="1"/>
          <p:nvPr/>
        </p:nvSpPr>
        <p:spPr>
          <a:xfrm>
            <a:off x="4760218" y="5562826"/>
            <a:ext cx="196880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 err="1"/>
              <a:t>upload</a:t>
            </a:r>
            <a:r>
              <a:rPr lang="de-DE" sz="1000" dirty="0"/>
              <a:t> / </a:t>
            </a:r>
            <a:r>
              <a:rPr lang="de-DE" sz="1000" dirty="0" err="1"/>
              <a:t>download</a:t>
            </a:r>
            <a:r>
              <a:rPr lang="de-DE" sz="1000" dirty="0"/>
              <a:t> via </a:t>
            </a:r>
            <a:r>
              <a:rPr lang="de-DE" sz="1000" dirty="0" err="1"/>
              <a:t>signed</a:t>
            </a:r>
            <a:r>
              <a:rPr lang="de-DE" sz="1000" dirty="0"/>
              <a:t> </a:t>
            </a:r>
            <a:r>
              <a:rPr lang="de-DE" sz="1000" dirty="0" err="1"/>
              <a:t>url</a:t>
            </a:r>
            <a:endParaRPr lang="de-CH" sz="1000"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2C3369E3-DD22-6969-8543-7B86497C2EB5}"/>
              </a:ext>
            </a:extLst>
          </p:cNvPr>
          <p:cNvSpPr txBox="1"/>
          <p:nvPr/>
        </p:nvSpPr>
        <p:spPr>
          <a:xfrm>
            <a:off x="4295490" y="547328"/>
            <a:ext cx="233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Architecture </a:t>
            </a:r>
            <a:r>
              <a:rPr lang="de-DE" dirty="0" err="1"/>
              <a:t>overview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0196128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</Words>
  <Application>Microsoft Office PowerPoint</Application>
  <PresentationFormat>Breitbild</PresentationFormat>
  <Paragraphs>30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Andreas Wassmer</dc:creator>
  <cp:lastModifiedBy>Andreas Wassmer</cp:lastModifiedBy>
  <cp:revision>25</cp:revision>
  <dcterms:created xsi:type="dcterms:W3CDTF">2025-12-17T07:23:24Z</dcterms:created>
  <dcterms:modified xsi:type="dcterms:W3CDTF">2025-12-18T15:37:50Z</dcterms:modified>
</cp:coreProperties>
</file>